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autoCompressPictures="0">
  <p:sldMasterIdLst>
    <p:sldMasterId id="2147483662" r:id="rId1"/>
  </p:sldMasterIdLst>
  <p:notesMasterIdLst>
    <p:notesMasterId r:id="rId37"/>
  </p:notesMasterIdLst>
  <p:sldIdLst>
    <p:sldId id="273" r:id="rId2"/>
    <p:sldId id="282" r:id="rId3"/>
    <p:sldId id="331" r:id="rId4"/>
    <p:sldId id="343" r:id="rId5"/>
    <p:sldId id="332" r:id="rId6"/>
    <p:sldId id="333" r:id="rId7"/>
    <p:sldId id="334" r:id="rId8"/>
    <p:sldId id="279" r:id="rId9"/>
    <p:sldId id="335" r:id="rId10"/>
    <p:sldId id="336" r:id="rId11"/>
    <p:sldId id="337" r:id="rId12"/>
    <p:sldId id="338" r:id="rId13"/>
    <p:sldId id="339" r:id="rId14"/>
    <p:sldId id="340" r:id="rId15"/>
    <p:sldId id="341" r:id="rId16"/>
    <p:sldId id="344" r:id="rId17"/>
    <p:sldId id="342" r:id="rId18"/>
    <p:sldId id="345" r:id="rId19"/>
    <p:sldId id="346" r:id="rId20"/>
    <p:sldId id="353" r:id="rId21"/>
    <p:sldId id="347" r:id="rId22"/>
    <p:sldId id="351" r:id="rId23"/>
    <p:sldId id="348" r:id="rId24"/>
    <p:sldId id="349" r:id="rId25"/>
    <p:sldId id="350" r:id="rId26"/>
    <p:sldId id="354" r:id="rId27"/>
    <p:sldId id="352" r:id="rId28"/>
    <p:sldId id="358" r:id="rId29"/>
    <p:sldId id="355" r:id="rId30"/>
    <p:sldId id="357" r:id="rId31"/>
    <p:sldId id="356" r:id="rId32"/>
    <p:sldId id="359" r:id="rId33"/>
    <p:sldId id="280" r:id="rId34"/>
    <p:sldId id="284" r:id="rId35"/>
    <p:sldId id="286" r:id="rId3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txi0LPNJBgSKxjLk1fcY9A==" hashData="kURHBvTn8SdpZBCgZfcPTeZj0rErC5zEM31Au5znh3VlSALQI/oTk6/ij8qv0acu29iOXHTE3oiYhXenxzlPJg=="/>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6B"/>
    <a:srgbClr val="780811"/>
    <a:srgbClr val="EDF2F3"/>
    <a:srgbClr val="1C1C1C"/>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21DA09-135B-4D9E-B024-D944C1A60722}" v="99" dt="2025-10-25T12:22:39.66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6" autoAdjust="0"/>
    <p:restoredTop sz="94647" autoAdjust="0"/>
  </p:normalViewPr>
  <p:slideViewPr>
    <p:cSldViewPr snapToGrid="0" snapToObjects="1">
      <p:cViewPr varScale="1">
        <p:scale>
          <a:sx n="134" d="100"/>
          <a:sy n="134" d="100"/>
        </p:scale>
        <p:origin x="954" y="11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EB4E0B-10DA-0748-9772-375F167C48C3}" type="datetimeFigureOut">
              <a:rPr lang="en-US" smtClean="0"/>
              <a:t>10/25/2025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224B6-AC52-144B-AED6-B20AEBA9C630}" type="slidenum">
              <a:rPr lang="en-US" smtClean="0"/>
              <a:t>‹#›</a:t>
            </a:fld>
            <a:endParaRPr lang="en-US"/>
          </a:p>
        </p:txBody>
      </p:sp>
    </p:spTree>
    <p:extLst>
      <p:ext uri="{BB962C8B-B14F-4D97-AF65-F5344CB8AC3E}">
        <p14:creationId xmlns:p14="http://schemas.microsoft.com/office/powerpoint/2010/main" val="402398924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defTabSz="447919">
              <a:defRPr/>
            </a:pPr>
            <a:endParaRPr lang="en-US" dirty="0"/>
          </a:p>
        </p:txBody>
      </p:sp>
      <p:sp>
        <p:nvSpPr>
          <p:cNvPr id="4" name="Slide Number Placeholder 3"/>
          <p:cNvSpPr>
            <a:spLocks noGrp="1"/>
          </p:cNvSpPr>
          <p:nvPr>
            <p:ph type="sldNum" sz="quarter" idx="10"/>
          </p:nvPr>
        </p:nvSpPr>
        <p:spPr/>
        <p:txBody>
          <a:bodyPr/>
          <a:lstStyle/>
          <a:p>
            <a:fld id="{1063461B-20B2-0D4B-AD29-BCDFF9922967}" type="slidenum">
              <a:rPr lang="en-US" smtClean="0">
                <a:solidFill>
                  <a:prstClr val="black"/>
                </a:solidFill>
                <a:latin typeface="Calibri"/>
              </a:rPr>
              <a:pPr/>
              <a:t>1</a:t>
            </a:fld>
            <a:endParaRPr lang="en-US">
              <a:solidFill>
                <a:prstClr val="black"/>
              </a:solidFill>
              <a:latin typeface="Calibri"/>
            </a:endParaRPr>
          </a:p>
        </p:txBody>
      </p:sp>
    </p:spTree>
    <p:extLst>
      <p:ext uri="{BB962C8B-B14F-4D97-AF65-F5344CB8AC3E}">
        <p14:creationId xmlns:p14="http://schemas.microsoft.com/office/powerpoint/2010/main" val="3366646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nb-NO" altLang="ko-KR" dirty="0" err="1"/>
              <a:t>Nitrite</a:t>
            </a:r>
            <a:r>
              <a:rPr lang="nb-NO" altLang="ko-KR" dirty="0"/>
              <a:t>: </a:t>
            </a:r>
            <a:r>
              <a:rPr lang="ko-KR" altLang="en-US" dirty="0" err="1"/>
              <a:t>아질산염</a:t>
            </a:r>
            <a:endParaRPr lang="en-US" altLang="ko-KR" dirty="0"/>
          </a:p>
          <a:p>
            <a:r>
              <a:rPr lang="nb-NO" altLang="ko-KR" dirty="0" err="1"/>
              <a:t>Chloride</a:t>
            </a:r>
            <a:r>
              <a:rPr lang="nb-NO" altLang="ko-KR" dirty="0"/>
              <a:t>: </a:t>
            </a:r>
            <a:r>
              <a:rPr lang="ko-KR" altLang="en-US" dirty="0" err="1"/>
              <a:t>염화물</a:t>
            </a:r>
            <a:endParaRPr lang="ko-KR" altLang="en-US" dirty="0"/>
          </a:p>
        </p:txBody>
      </p:sp>
      <p:sp>
        <p:nvSpPr>
          <p:cNvPr id="4" name="슬라이드 번호 개체 틀 3"/>
          <p:cNvSpPr>
            <a:spLocks noGrp="1"/>
          </p:cNvSpPr>
          <p:nvPr>
            <p:ph type="sldNum" sz="quarter" idx="5"/>
          </p:nvPr>
        </p:nvSpPr>
        <p:spPr/>
        <p:txBody>
          <a:bodyPr/>
          <a:lstStyle/>
          <a:p>
            <a:fld id="{52E224B6-AC52-144B-AED6-B20AEBA9C630}" type="slidenum">
              <a:rPr lang="en-US" smtClean="0"/>
              <a:t>32</a:t>
            </a:fld>
            <a:endParaRPr lang="en-US"/>
          </a:p>
        </p:txBody>
      </p:sp>
    </p:spTree>
    <p:extLst>
      <p:ext uri="{BB962C8B-B14F-4D97-AF65-F5344CB8AC3E}">
        <p14:creationId xmlns:p14="http://schemas.microsoft.com/office/powerpoint/2010/main" val="26341110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465793" y="1286865"/>
            <a:ext cx="8361663" cy="593689"/>
          </a:xfrm>
        </p:spPr>
        <p:txBody>
          <a:bodyPr wrap="square" anchor="ctr" anchorCtr="0">
            <a:spAutoFit/>
          </a:bodyPr>
          <a:lstStyle>
            <a:lvl1pPr algn="l">
              <a:lnSpc>
                <a:spcPct val="90000"/>
              </a:lnSpc>
              <a:defRPr sz="3600" b="0" i="0">
                <a:ln>
                  <a:noFill/>
                </a:ln>
                <a:solidFill>
                  <a:schemeClr val="tx1">
                    <a:lumMod val="75000"/>
                    <a:lumOff val="25000"/>
                  </a:schemeClr>
                </a:solidFill>
                <a:effectLst/>
                <a:latin typeface="Calibri" panose="020F0502020204030204" pitchFamily="34" charset="0"/>
                <a:cs typeface="Calibri" panose="020F0502020204030204" pitchFamily="34" charset="0"/>
              </a:defRPr>
            </a:lvl1pPr>
          </a:lstStyle>
          <a:p>
            <a:r>
              <a:rPr lang="en-US" dirty="0"/>
              <a:t>Click  to edit Master title style</a:t>
            </a:r>
          </a:p>
        </p:txBody>
      </p:sp>
      <p:sp>
        <p:nvSpPr>
          <p:cNvPr id="3" name="Subtitle 2"/>
          <p:cNvSpPr>
            <a:spLocks noGrp="1"/>
          </p:cNvSpPr>
          <p:nvPr>
            <p:ph type="subTitle" idx="1"/>
          </p:nvPr>
        </p:nvSpPr>
        <p:spPr bwMode="gray">
          <a:xfrm>
            <a:off x="465793" y="2274235"/>
            <a:ext cx="7817185" cy="426592"/>
          </a:xfrm>
        </p:spPr>
        <p:txBody>
          <a:bodyPr wrap="square" anchor="t" anchorCtr="0">
            <a:spAutoFit/>
          </a:bodyPr>
          <a:lstStyle>
            <a:lvl1pPr marL="0" indent="0" algn="l">
              <a:lnSpc>
                <a:spcPct val="90000"/>
              </a:lnSpc>
              <a:spcBef>
                <a:spcPts val="0"/>
              </a:spcBef>
              <a:buNone/>
              <a:defRPr sz="2400" b="0" i="0">
                <a:solidFill>
                  <a:schemeClr val="tx1">
                    <a:lumMod val="65000"/>
                    <a:lumOff val="35000"/>
                  </a:schemeClr>
                </a:solidFill>
                <a:effectLst/>
                <a:latin typeface="Calibri" panose="020F0502020204030204" pitchFamily="34" charset="0"/>
                <a:cs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5" name="그림 4" descr="폰트, 텍스트, 그래픽, 스크린샷이(가) 표시된 사진&#10;&#10;AI 생성 콘텐츠는 정확하지 않을 수 있습니다.">
            <a:extLst>
              <a:ext uri="{FF2B5EF4-FFF2-40B4-BE49-F238E27FC236}">
                <a16:creationId xmlns:a16="http://schemas.microsoft.com/office/drawing/2014/main" id="{436F795F-5BDB-2DED-927D-E4FF22FD2306}"/>
              </a:ext>
            </a:extLst>
          </p:cNvPr>
          <p:cNvPicPr>
            <a:picLocks noChangeAspect="1"/>
          </p:cNvPicPr>
          <p:nvPr userDrawn="1"/>
        </p:nvPicPr>
        <p:blipFill>
          <a:blip r:embed="rId2"/>
          <a:stretch>
            <a:fillRect/>
          </a:stretch>
        </p:blipFill>
        <p:spPr>
          <a:xfrm>
            <a:off x="5464353" y="3952645"/>
            <a:ext cx="3194222" cy="689755"/>
          </a:xfrm>
          <a:prstGeom prst="rect">
            <a:avLst/>
          </a:prstGeom>
        </p:spPr>
      </p:pic>
      <p:sp>
        <p:nvSpPr>
          <p:cNvPr id="6" name="Subtitle 2">
            <a:extLst>
              <a:ext uri="{FF2B5EF4-FFF2-40B4-BE49-F238E27FC236}">
                <a16:creationId xmlns:a16="http://schemas.microsoft.com/office/drawing/2014/main" id="{E16C3C3F-88B1-A993-0DFA-F3180D58A9C2}"/>
              </a:ext>
            </a:extLst>
          </p:cNvPr>
          <p:cNvSpPr txBox="1">
            <a:spLocks/>
          </p:cNvSpPr>
          <p:nvPr userDrawn="1"/>
        </p:nvSpPr>
        <p:spPr bwMode="gray">
          <a:xfrm>
            <a:off x="5962919" y="4650808"/>
            <a:ext cx="2788277" cy="476028"/>
          </a:xfrm>
          <a:prstGeom prst="rect">
            <a:avLst/>
          </a:prstGeom>
        </p:spPr>
        <p:txBody>
          <a:bodyPr vert="horz" wrap="square" lIns="91440" tIns="45720" rIns="91440" bIns="45720" rtlCol="0" anchor="t" anchorCtr="0">
            <a:spAutoFit/>
          </a:bodyPr>
          <a:lstStyle>
            <a:lvl1pPr marL="0" indent="0" algn="l" defTabSz="457200" rtl="0" eaLnBrk="1" latinLnBrk="0" hangingPunct="1">
              <a:lnSpc>
                <a:spcPct val="90000"/>
              </a:lnSpc>
              <a:spcBef>
                <a:spcPts val="0"/>
              </a:spcBef>
              <a:spcAft>
                <a:spcPts val="400"/>
              </a:spcAft>
              <a:buSzPct val="110000"/>
              <a:buFont typeface="Arial"/>
              <a:buNone/>
              <a:defRPr sz="2400" b="0" i="0" kern="1200">
                <a:solidFill>
                  <a:schemeClr val="tx1">
                    <a:lumMod val="65000"/>
                    <a:lumOff val="35000"/>
                  </a:schemeClr>
                </a:solidFill>
                <a:effectLst/>
                <a:latin typeface="Helvetica Light"/>
                <a:ea typeface="+mn-ea"/>
                <a:cs typeface="Helvetica Light"/>
              </a:defRPr>
            </a:lvl1pPr>
            <a:lvl2pPr marL="457200" indent="0" algn="ctr" defTabSz="457200" rtl="0" eaLnBrk="1" latinLnBrk="0" hangingPunct="1">
              <a:lnSpc>
                <a:spcPct val="90000"/>
              </a:lnSpc>
              <a:spcBef>
                <a:spcPts val="0"/>
              </a:spcBef>
              <a:spcAft>
                <a:spcPts val="400"/>
              </a:spcAft>
              <a:buFont typeface="Arial"/>
              <a:buNone/>
              <a:defRPr sz="1800" b="0" i="0" kern="1200">
                <a:solidFill>
                  <a:schemeClr val="tx1">
                    <a:tint val="75000"/>
                  </a:schemeClr>
                </a:solidFill>
                <a:latin typeface="Helvetica Light"/>
                <a:ea typeface="+mn-ea"/>
                <a:cs typeface="Helvetica Light"/>
              </a:defRPr>
            </a:lvl2pPr>
            <a:lvl3pPr marL="914400" indent="0" algn="ctr" defTabSz="454025" rtl="0" eaLnBrk="1" latinLnBrk="0" hangingPunct="1">
              <a:lnSpc>
                <a:spcPct val="90000"/>
              </a:lnSpc>
              <a:spcBef>
                <a:spcPts val="0"/>
              </a:spcBef>
              <a:spcAft>
                <a:spcPts val="400"/>
              </a:spcAft>
              <a:buSzPct val="80000"/>
              <a:buFont typeface="Arial"/>
              <a:buNone/>
              <a:defRPr sz="1800" b="0" i="0" kern="1200">
                <a:solidFill>
                  <a:schemeClr val="tx1">
                    <a:tint val="75000"/>
                  </a:schemeClr>
                </a:solidFill>
                <a:latin typeface="Helvetica Light"/>
                <a:ea typeface="+mn-ea"/>
                <a:cs typeface="Helvetica Light"/>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altLang="ko-KR" sz="1200" dirty="0">
                <a:latin typeface="Calibri" panose="020F0502020204030204" pitchFamily="34" charset="0"/>
                <a:cs typeface="Calibri" panose="020F0502020204030204" pitchFamily="34" charset="0"/>
              </a:rPr>
              <a:t>Made by </a:t>
            </a:r>
            <a:r>
              <a:rPr lang="en-US" sz="1200" dirty="0">
                <a:latin typeface="Calibri" panose="020F0502020204030204" pitchFamily="34" charset="0"/>
                <a:cs typeface="Calibri" panose="020F0502020204030204" pitchFamily="34" charset="0"/>
              </a:rPr>
              <a:t>Minho Park (Ph.D.)</a:t>
            </a:r>
          </a:p>
          <a:p>
            <a:pPr algn="r"/>
            <a:r>
              <a:rPr lang="en-US" sz="1200" dirty="0">
                <a:latin typeface="Calibri" panose="020F0502020204030204" pitchFamily="34" charset="0"/>
                <a:cs typeface="Calibri" panose="020F0502020204030204" pitchFamily="34" charset="0"/>
              </a:rPr>
              <a:t>https://orcid.org/0000-0002-6900-4566</a:t>
            </a: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96447"/>
            <a:ext cx="6400800" cy="543739"/>
          </a:xfrm>
        </p:spPr>
        <p:txBody>
          <a:bodyPr/>
          <a:lstStyle/>
          <a:p>
            <a:r>
              <a:rPr lang="en-US" dirty="0"/>
              <a:t>Click to edit Master title style</a:t>
            </a:r>
          </a:p>
        </p:txBody>
      </p:sp>
      <p:sp>
        <p:nvSpPr>
          <p:cNvPr id="4" name="Text Placeholder 3"/>
          <p:cNvSpPr>
            <a:spLocks noGrp="1"/>
          </p:cNvSpPr>
          <p:nvPr>
            <p:ph type="body" sz="quarter" idx="10"/>
          </p:nvPr>
        </p:nvSpPr>
        <p:spPr>
          <a:xfrm>
            <a:off x="304800" y="1101144"/>
            <a:ext cx="8534400" cy="3528811"/>
          </a:xfrm>
        </p:spPr>
        <p:txBody>
          <a:bodyPr/>
          <a:lstStyle>
            <a:lvl1pPr>
              <a:defRPr>
                <a:solidFill>
                  <a:srgbClr val="262626"/>
                </a:solidFill>
              </a:defRPr>
            </a:lvl1pPr>
            <a:lvl2pPr>
              <a:defRPr>
                <a:solidFill>
                  <a:srgbClr val="262626"/>
                </a:solidFill>
              </a:defRPr>
            </a:lvl2pPr>
            <a:lvl3pPr>
              <a:defRPr>
                <a:solidFill>
                  <a:srgbClr val="262626"/>
                </a:solidFil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813598" y="638982"/>
            <a:ext cx="184666" cy="346249"/>
          </a:xfrm>
          <a:prstGeom prst="rect">
            <a:avLst/>
          </a:prstGeom>
          <a:noFill/>
        </p:spPr>
        <p:txBody>
          <a:bodyPr wrap="none" rtlCol="0">
            <a:spAutoFit/>
          </a:bodyPr>
          <a:lstStyle/>
          <a:p>
            <a:pPr>
              <a:lnSpc>
                <a:spcPct val="90000"/>
              </a:lnSpc>
            </a:pPr>
            <a:endParaRPr lang="en-US" dirty="0">
              <a:solidFill>
                <a:srgbClr val="696253"/>
              </a:solidFill>
              <a:latin typeface="Calibri"/>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88201"/>
            <a:ext cx="6400800" cy="543739"/>
          </a:xfrm>
          <a:prstGeom prst="rect">
            <a:avLst/>
          </a:prstGeom>
        </p:spPr>
        <p:txBody>
          <a:bodyPr vert="horz" wrap="square"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304800" y="1129715"/>
            <a:ext cx="8534400" cy="346490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11" name="Rectangle 10"/>
          <p:cNvSpPr/>
          <p:nvPr userDrawn="1"/>
        </p:nvSpPr>
        <p:spPr bwMode="ltGray">
          <a:xfrm>
            <a:off x="0" y="0"/>
            <a:ext cx="204115" cy="5143500"/>
          </a:xfrm>
          <a:prstGeom prst="rect">
            <a:avLst/>
          </a:prstGeom>
          <a:solidFill>
            <a:srgbClr val="00356B"/>
          </a:solidFill>
          <a:ln>
            <a:solidFill>
              <a:srgbClr val="003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7" name="Footer Placeholder 6"/>
          <p:cNvSpPr>
            <a:spLocks noGrp="1"/>
          </p:cNvSpPr>
          <p:nvPr>
            <p:ph type="ftr" sz="quarter" idx="3"/>
          </p:nvPr>
        </p:nvSpPr>
        <p:spPr>
          <a:xfrm>
            <a:off x="3124200" y="4709541"/>
            <a:ext cx="2895600" cy="274637"/>
          </a:xfrm>
          <a:prstGeom prst="rect">
            <a:avLst/>
          </a:prstGeom>
        </p:spPr>
        <p:txBody>
          <a:bodyPr vert="horz" lIns="91440" tIns="45720" rIns="91440" bIns="45720" rtlCol="0" anchor="ctr"/>
          <a:lstStyle>
            <a:lvl1pPr algn="ctr">
              <a:defRPr sz="1200" b="0" i="0">
                <a:solidFill>
                  <a:schemeClr val="tx1">
                    <a:tint val="75000"/>
                  </a:schemeClr>
                </a:solidFill>
                <a:latin typeface="Calibri" panose="020F0502020204030204" pitchFamily="34" charset="0"/>
                <a:cs typeface="Calibri" panose="020F0502020204030204" pitchFamily="34" charset="0"/>
              </a:defRPr>
            </a:lvl1pPr>
          </a:lstStyle>
          <a:p>
            <a:endParaRPr lang="en-US" dirty="0"/>
          </a:p>
        </p:txBody>
      </p:sp>
      <p:sp>
        <p:nvSpPr>
          <p:cNvPr id="17" name="Slide Number Placeholder 16"/>
          <p:cNvSpPr>
            <a:spLocks noGrp="1"/>
          </p:cNvSpPr>
          <p:nvPr>
            <p:ph type="sldNum" sz="quarter" idx="4"/>
          </p:nvPr>
        </p:nvSpPr>
        <p:spPr>
          <a:xfrm>
            <a:off x="304800" y="4731861"/>
            <a:ext cx="703583" cy="274637"/>
          </a:xfrm>
          <a:prstGeom prst="rect">
            <a:avLst/>
          </a:prstGeom>
        </p:spPr>
        <p:txBody>
          <a:bodyPr vert="horz" lIns="91440" tIns="45720" rIns="91440" bIns="45720" rtlCol="0" anchor="ctr"/>
          <a:lstStyle>
            <a:lvl1pPr algn="l">
              <a:defRPr sz="1200" b="0" i="0">
                <a:solidFill>
                  <a:schemeClr val="tx1">
                    <a:tint val="75000"/>
                  </a:schemeClr>
                </a:solidFill>
                <a:latin typeface="Calibri" panose="020F0502020204030204" pitchFamily="34" charset="0"/>
                <a:cs typeface="Calibri" panose="020F0502020204030204" pitchFamily="34" charset="0"/>
              </a:defRPr>
            </a:lvl1pPr>
          </a:lstStyle>
          <a:p>
            <a:fld id="{06B11E49-4B21-4C47-B00C-A5D83590719D}" type="slidenum">
              <a:rPr lang="en-US" smtClean="0"/>
              <a:pPr/>
              <a:t>‹#›</a:t>
            </a:fld>
            <a:endParaRPr lang="en-US" dirty="0"/>
          </a:p>
        </p:txBody>
      </p:sp>
      <p:pic>
        <p:nvPicPr>
          <p:cNvPr id="4" name="그림 3" descr="폰트, 텍스트, 그래픽, 스크린샷이(가) 표시된 사진&#10;&#10;AI 생성 콘텐츠는 정확하지 않을 수 있습니다.">
            <a:extLst>
              <a:ext uri="{FF2B5EF4-FFF2-40B4-BE49-F238E27FC236}">
                <a16:creationId xmlns:a16="http://schemas.microsoft.com/office/drawing/2014/main" id="{3AC8EC1D-A342-60E2-047F-93FE9ECDEA0C}"/>
              </a:ext>
            </a:extLst>
          </p:cNvPr>
          <p:cNvPicPr>
            <a:picLocks noChangeAspect="1"/>
          </p:cNvPicPr>
          <p:nvPr userDrawn="1"/>
        </p:nvPicPr>
        <p:blipFill>
          <a:blip r:embed="rId4"/>
          <a:stretch>
            <a:fillRect/>
          </a:stretch>
        </p:blipFill>
        <p:spPr>
          <a:xfrm>
            <a:off x="7130021" y="4672947"/>
            <a:ext cx="1709179" cy="369077"/>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 id="2147483665" r:id="rId2"/>
  </p:sldLayoutIdLst>
  <p:transition>
    <p:wipe dir="r"/>
  </p:transition>
  <p:txStyles>
    <p:titleStyle>
      <a:lvl1pPr algn="l" defTabSz="457200" rtl="0" eaLnBrk="1" latinLnBrk="0" hangingPunct="1">
        <a:lnSpc>
          <a:spcPct val="90000"/>
        </a:lnSpc>
        <a:spcBef>
          <a:spcPct val="0"/>
        </a:spcBef>
        <a:buNone/>
        <a:defRPr sz="3200" b="0" i="0" kern="1200">
          <a:solidFill>
            <a:srgbClr val="00356B"/>
          </a:solidFill>
          <a:latin typeface="Calibri" panose="020F0502020204030204" pitchFamily="34" charset="0"/>
          <a:ea typeface="+mj-ea"/>
          <a:cs typeface="Calibri" panose="020F0502020204030204" pitchFamily="34" charset="0"/>
        </a:defRPr>
      </a:lvl1pPr>
    </p:titleStyle>
    <p:body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Calibri" panose="020F0502020204030204" pitchFamily="34" charset="0"/>
          <a:ea typeface="+mn-ea"/>
          <a:cs typeface="Calibri" panose="020F0502020204030204" pitchFamily="34" charset="0"/>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Calibri" panose="020F0502020204030204" pitchFamily="34" charset="0"/>
          <a:ea typeface="+mn-ea"/>
          <a:cs typeface="Calibri" panose="020F0502020204030204" pitchFamily="34" charset="0"/>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Calibri" panose="020F0502020204030204" pitchFamily="34" charset="0"/>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video" Target="https://www.youtube.com/embed/sob3SuiRZHM?feature=oembed"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video" Target="https://www.youtube.com/embed/UxgAeilk-gg?feature=oembed"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video" Target="https://www.youtube.com/embed/nJEF5uO9o2g?feature=oembed"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ideo" Target="https://www.youtube.com/embed/uEInVVcc6Sc?feature=oembed" TargetMode="External"/><Relationship Id="rId4" Type="http://schemas.openxmlformats.org/officeDocument/2006/relationships/image" Target="../media/image22.jpe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ideo" Target="https://www.youtube.com/embed/_2xPxMPZV6I?feature=oembed" TargetMode="External"/><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ideo" Target="https://www.youtube.com/embed/Gsg0DCwGhzk?feature=oembed" TargetMode="External"/><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ideo" Target="https://www.youtube.com/embed/r-8vv3dQ1oc?feature=oembed" TargetMode="External"/><Relationship Id="rId4" Type="http://schemas.openxmlformats.org/officeDocument/2006/relationships/image" Target="../media/image25.jpe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ideo" Target="https://www.youtube.com/embed/Atz2XwcjZ48?feature=oembed" TargetMode="External"/><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ideo" Target="https://www.youtube.com/embed/s5nJG0om8KY?feature=oembed" TargetMode="External"/><Relationship Id="rId4" Type="http://schemas.openxmlformats.org/officeDocument/2006/relationships/image" Target="../media/image27.jpeg"/></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ideo" Target="https://www.youtube.com/embed/YQM-OI8PBu0?feature=oembed" TargetMode="External"/><Relationship Id="rId4" Type="http://schemas.openxmlformats.org/officeDocument/2006/relationships/image" Target="../media/image31.jpe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ideo" Target="https://www.youtube.com/embed/2qQGLiCL4vo?feature=oembed" TargetMode="External"/><Relationship Id="rId4" Type="http://schemas.openxmlformats.org/officeDocument/2006/relationships/image" Target="../media/image32.jpe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3.gif"/><Relationship Id="rId1" Type="http://schemas.openxmlformats.org/officeDocument/2006/relationships/slideLayout" Target="../slideLayouts/slideLayout2.xml"/><Relationship Id="rId5" Type="http://schemas.openxmlformats.org/officeDocument/2006/relationships/image" Target="../media/image35.jpeg"/><Relationship Id="rId4" Type="http://schemas.openxmlformats.org/officeDocument/2006/relationships/image" Target="../media/image34.jpe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ideo" Target="https://www.youtube.com/embed/7ALX1eYmiNk?feature=oembed" TargetMode="External"/><Relationship Id="rId4" Type="http://schemas.openxmlformats.org/officeDocument/2006/relationships/image" Target="../media/image40.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42.jpeg"/><Relationship Id="rId2" Type="http://schemas.openxmlformats.org/officeDocument/2006/relationships/slideLayout" Target="../slideLayouts/slideLayout2.xml"/><Relationship Id="rId1" Type="http://schemas.openxmlformats.org/officeDocument/2006/relationships/video" Target="https://www.youtube.com/embed/CNry-CKNkeM?feature=oembed" TargetMode="External"/><Relationship Id="rId6" Type="http://schemas.openxmlformats.org/officeDocument/2006/relationships/image" Target="../media/image41.png"/><Relationship Id="rId5" Type="http://schemas.openxmlformats.org/officeDocument/2006/relationships/image" Target="../media/image2.jpe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muckymariners.com/app/meo-class-4-subjects/function-4b-meol/auxiliary-machines/11-heat-exchanger/heat-exchanger-2-5-type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wilhelmsen.com/product-catalogue/products/marine-chemicals/water-treatment-chemicals/cooling-water-treatment/" TargetMode="External"/><Relationship Id="rId2" Type="http://schemas.openxmlformats.org/officeDocument/2006/relationships/hyperlink" Target="https://www.youtube.com/watch?v=CNry-CKNke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381741" y="651623"/>
            <a:ext cx="8255450" cy="2751522"/>
          </a:xfrm>
          <a:prstGeom prst="rect">
            <a:avLst/>
          </a:prstGeom>
        </p:spPr>
        <p:txBody>
          <a:bodyPr vert="horz" wrap="square" lIns="91440" tIns="45720" rIns="91440" bIns="45720" rtlCol="0" anchor="ctr" anchorCtr="0">
            <a:spAutoFit/>
          </a:bodyPr>
          <a:lstStyle>
            <a:lvl1pPr algn="l" defTabSz="457200" rtl="0" eaLnBrk="1" latinLnBrk="0" hangingPunct="1">
              <a:lnSpc>
                <a:spcPct val="90000"/>
              </a:lnSpc>
              <a:spcBef>
                <a:spcPct val="0"/>
              </a:spcBef>
              <a:buNone/>
              <a:defRPr sz="4200" i="0" kern="1200">
                <a:solidFill>
                  <a:schemeClr val="bg1"/>
                </a:solidFill>
                <a:effectLst>
                  <a:outerShdw blurRad="38100" dist="38100" dir="2700000" algn="tl">
                    <a:srgbClr val="000000">
                      <a:alpha val="43137"/>
                    </a:srgbClr>
                  </a:outerShdw>
                </a:effectLst>
                <a:latin typeface="Calibri"/>
                <a:ea typeface="+mj-ea"/>
                <a:cs typeface="Calibri"/>
              </a:defRPr>
            </a:lvl1pPr>
          </a:lstStyle>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KMOU </a:t>
            </a:r>
            <a:r>
              <a:rPr lang="en-US" sz="2800" dirty="0">
                <a:solidFill>
                  <a:schemeClr val="tx1">
                    <a:lumMod val="75000"/>
                    <a:lumOff val="25000"/>
                  </a:schemeClr>
                </a:solidFill>
                <a:effectLst/>
                <a:latin typeface="Calibri" panose="020F0502020204030204" pitchFamily="34" charset="0"/>
                <a:cs typeface="Calibri" panose="020F0502020204030204" pitchFamily="34" charset="0"/>
              </a:rPr>
              <a:t>Division of Marine System Engineering</a:t>
            </a:r>
          </a:p>
          <a:p>
            <a:endParaRPr lang="en-US" sz="4800" dirty="0">
              <a:solidFill>
                <a:schemeClr val="tx1">
                  <a:lumMod val="75000"/>
                  <a:lumOff val="25000"/>
                </a:schemeClr>
              </a:solidFill>
              <a:effectLst/>
              <a:latin typeface="Calibri" panose="020F0502020204030204" pitchFamily="34" charset="0"/>
              <a:cs typeface="Calibri" panose="020F0502020204030204" pitchFamily="34" charset="0"/>
            </a:endParaRPr>
          </a:p>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Introduction to </a:t>
            </a:r>
          </a:p>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Internal Combustion Engine </a:t>
            </a:r>
          </a:p>
        </p:txBody>
      </p:sp>
    </p:spTree>
    <p:extLst>
      <p:ext uri="{BB962C8B-B14F-4D97-AF65-F5344CB8AC3E}">
        <p14:creationId xmlns:p14="http://schemas.microsoft.com/office/powerpoint/2010/main" val="1504224030"/>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878F-7F04-302E-DFC7-67881DDE4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16DC8-8326-FB47-1CE0-3EB5455CCA08}"/>
              </a:ext>
            </a:extLst>
          </p:cNvPr>
          <p:cNvSpPr>
            <a:spLocks noGrp="1"/>
          </p:cNvSpPr>
          <p:nvPr>
            <p:ph type="title"/>
          </p:nvPr>
        </p:nvSpPr>
        <p:spPr>
          <a:xfrm>
            <a:off x="304799" y="304655"/>
            <a:ext cx="8392313" cy="535531"/>
          </a:xfrm>
        </p:spPr>
        <p:txBody>
          <a:bodyPr/>
          <a:lstStyle/>
          <a:p>
            <a:r>
              <a:rPr lang="en-US" dirty="0"/>
              <a:t>Lesson content for each week</a:t>
            </a:r>
          </a:p>
        </p:txBody>
      </p:sp>
      <p:graphicFrame>
        <p:nvGraphicFramePr>
          <p:cNvPr id="6" name="표 5">
            <a:extLst>
              <a:ext uri="{FF2B5EF4-FFF2-40B4-BE49-F238E27FC236}">
                <a16:creationId xmlns:a16="http://schemas.microsoft.com/office/drawing/2014/main" id="{5FD0B75C-39E0-9245-D3CD-1F0BED02C249}"/>
              </a:ext>
            </a:extLst>
          </p:cNvPr>
          <p:cNvGraphicFramePr>
            <a:graphicFrameLocks noGrp="1"/>
          </p:cNvGraphicFramePr>
          <p:nvPr>
            <p:extLst>
              <p:ext uri="{D42A27DB-BD31-4B8C-83A1-F6EECF244321}">
                <p14:modId xmlns:p14="http://schemas.microsoft.com/office/powerpoint/2010/main" val="2893475134"/>
              </p:ext>
            </p:extLst>
          </p:nvPr>
        </p:nvGraphicFramePr>
        <p:xfrm>
          <a:off x="354071" y="826436"/>
          <a:ext cx="8463358" cy="4145280"/>
        </p:xfrm>
        <a:graphic>
          <a:graphicData uri="http://schemas.openxmlformats.org/drawingml/2006/table">
            <a:tbl>
              <a:tblPr firstRow="1" bandRow="1">
                <a:tableStyleId>{2D5ABB26-0587-4C30-8999-92F81FD0307C}</a:tableStyleId>
              </a:tblPr>
              <a:tblGrid>
                <a:gridCol w="4231679">
                  <a:extLst>
                    <a:ext uri="{9D8B030D-6E8A-4147-A177-3AD203B41FA5}">
                      <a16:colId xmlns:a16="http://schemas.microsoft.com/office/drawing/2014/main" val="576110043"/>
                    </a:ext>
                  </a:extLst>
                </a:gridCol>
                <a:gridCol w="4231679">
                  <a:extLst>
                    <a:ext uri="{9D8B030D-6E8A-4147-A177-3AD203B41FA5}">
                      <a16:colId xmlns:a16="http://schemas.microsoft.com/office/drawing/2014/main" val="12346094"/>
                    </a:ext>
                  </a:extLst>
                </a:gridCol>
              </a:tblGrid>
              <a:tr h="518160">
                <a:tc>
                  <a:txBody>
                    <a:bodyPr/>
                    <a:lstStyle/>
                    <a:p>
                      <a:pPr latinLnBrk="1"/>
                      <a:r>
                        <a:rPr lang="en-US" altLang="ko-KR" sz="1400" dirty="0"/>
                        <a:t>Ch0_Introduction to the Class</a:t>
                      </a:r>
                      <a:endParaRPr lang="en-US" altLang="ko-KR" sz="1400" dirty="0">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Ch6_Piston Fittings and Crankshaft</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581925853"/>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Ch1_Overview of the Internal Combustion Engine</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Ch7_Lube Oil System</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2279872474"/>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Ch2_Thermodynamics and Compressed Air System</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b="1" dirty="0">
                          <a:solidFill>
                            <a:srgbClr val="FF0000"/>
                          </a:solidFill>
                        </a:rPr>
                        <a:t>Ch8_Cooling Water System</a:t>
                      </a:r>
                      <a:endParaRPr lang="en-US" altLang="ko-KR" sz="1400" b="1" dirty="0">
                        <a:solidFill>
                          <a:srgbClr val="FF0000"/>
                        </a:solidFill>
                        <a:latin typeface="Calibri" panose="020F0502020204030204" pitchFamily="34" charset="0"/>
                      </a:endParaRPr>
                    </a:p>
                  </a:txBody>
                  <a:tcPr/>
                </a:tc>
                <a:extLst>
                  <a:ext uri="{0D108BD9-81ED-4DB2-BD59-A6C34878D82A}">
                    <a16:rowId xmlns:a16="http://schemas.microsoft.com/office/drawing/2014/main" val="2189124132"/>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Ch3_Marine Fuels and Internal Fuel Oil System</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Ch9_Introduction to the Main Engine</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3434192298"/>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Ch4_Intake and Exhaust System</a:t>
                      </a:r>
                      <a:endParaRPr lang="en-US" altLang="ko-KR" sz="1400" dirty="0">
                        <a:solidFill>
                          <a:srgbClr val="000000"/>
                        </a:solidFill>
                        <a:latin typeface="Calibri" panose="020F0502020204030204" pitchFamily="34" charset="0"/>
                      </a:endParaRPr>
                    </a:p>
                  </a:txBody>
                  <a:tcPr/>
                </a:tc>
                <a:tc>
                  <a:txBody>
                    <a:bodyPr/>
                    <a:lstStyle/>
                    <a:p>
                      <a:pPr latinLnBrk="1"/>
                      <a:r>
                        <a:rPr lang="en-US" altLang="ko-KR" sz="1400" dirty="0">
                          <a:solidFill>
                            <a:srgbClr val="000000"/>
                          </a:solidFill>
                        </a:rPr>
                        <a:t>Ch10_Alternative Fuels and Alternative Fuel Systems</a:t>
                      </a:r>
                      <a:endParaRPr lang="ko-KR" altLang="en-US" sz="1400" dirty="0">
                        <a:latin typeface="Calibri" panose="020F0502020204030204" pitchFamily="34" charset="0"/>
                      </a:endParaRPr>
                    </a:p>
                  </a:txBody>
                  <a:tcPr/>
                </a:tc>
                <a:extLst>
                  <a:ext uri="{0D108BD9-81ED-4DB2-BD59-A6C34878D82A}">
                    <a16:rowId xmlns:a16="http://schemas.microsoft.com/office/drawing/2014/main" val="181752057"/>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Ch5_Turbocharger</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Ch11_Environmental Regulations and Exhaust Gas Aftertreatment Systems</a:t>
                      </a:r>
                      <a:endParaRPr lang="ko-KR" altLang="en-US" sz="1400" dirty="0">
                        <a:latin typeface="Calibri" panose="020F0502020204030204" pitchFamily="34" charset="0"/>
                      </a:endParaRPr>
                    </a:p>
                  </a:txBody>
                  <a:tcPr/>
                </a:tc>
                <a:extLst>
                  <a:ext uri="{0D108BD9-81ED-4DB2-BD59-A6C34878D82A}">
                    <a16:rowId xmlns:a16="http://schemas.microsoft.com/office/drawing/2014/main" val="3122996524"/>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b="1" dirty="0">
                          <a:solidFill>
                            <a:srgbClr val="000000"/>
                          </a:solidFill>
                        </a:rPr>
                        <a:t>Midterm</a:t>
                      </a:r>
                      <a:endParaRPr lang="en-US" altLang="ko-KR" sz="1400" b="1" dirty="0">
                        <a:solidFill>
                          <a:srgbClr val="000000"/>
                        </a:solidFill>
                        <a:latin typeface="Calibri" panose="020F0502020204030204" pitchFamily="34" charset="0"/>
                      </a:endParaRPr>
                    </a:p>
                  </a:txBody>
                  <a:tcPr/>
                </a:tc>
                <a:tc>
                  <a:txBody>
                    <a:bodyPr/>
                    <a:lstStyle/>
                    <a:p>
                      <a:pPr latinLnBrk="1"/>
                      <a:r>
                        <a:rPr lang="en-US" altLang="ko-KR" sz="1400" dirty="0">
                          <a:solidFill>
                            <a:srgbClr val="000000"/>
                          </a:solidFill>
                        </a:rPr>
                        <a:t>Ch12_Tools, Apprentice Engineer Duties, and Career Direction</a:t>
                      </a:r>
                      <a:endParaRPr lang="ko-KR" altLang="en-US" sz="1400" dirty="0">
                        <a:latin typeface="Calibri" panose="020F0502020204030204" pitchFamily="34" charset="0"/>
                      </a:endParaRPr>
                    </a:p>
                  </a:txBody>
                  <a:tcPr/>
                </a:tc>
                <a:extLst>
                  <a:ext uri="{0D108BD9-81ED-4DB2-BD59-A6C34878D82A}">
                    <a16:rowId xmlns:a16="http://schemas.microsoft.com/office/drawing/2014/main" val="3564919555"/>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endParaRPr lang="en-US" altLang="ko-KR" sz="1400" dirty="0">
                        <a:solidFill>
                          <a:srgbClr val="000000"/>
                        </a:solidFill>
                        <a:latin typeface="Calibri" panose="020F0502020204030204" pitchFamily="34" charset="0"/>
                      </a:endParaRPr>
                    </a:p>
                  </a:txBody>
                  <a:tcPr/>
                </a:tc>
                <a:tc>
                  <a:txBody>
                    <a:bodyPr/>
                    <a:lstStyle/>
                    <a:p>
                      <a:pPr latinLnBrk="1"/>
                      <a:r>
                        <a:rPr lang="en-US" altLang="ko-KR" sz="1400" b="1" dirty="0"/>
                        <a:t>Final Exam</a:t>
                      </a:r>
                      <a:endParaRPr lang="ko-KR" altLang="en-US" sz="1400" b="1" dirty="0">
                        <a:latin typeface="Calibri" panose="020F0502020204030204" pitchFamily="34" charset="0"/>
                      </a:endParaRPr>
                    </a:p>
                  </a:txBody>
                  <a:tcPr/>
                </a:tc>
                <a:extLst>
                  <a:ext uri="{0D108BD9-81ED-4DB2-BD59-A6C34878D82A}">
                    <a16:rowId xmlns:a16="http://schemas.microsoft.com/office/drawing/2014/main" val="488745633"/>
                  </a:ext>
                </a:extLst>
              </a:tr>
            </a:tbl>
          </a:graphicData>
        </a:graphic>
      </p:graphicFrame>
    </p:spTree>
    <p:extLst>
      <p:ext uri="{BB962C8B-B14F-4D97-AF65-F5344CB8AC3E}">
        <p14:creationId xmlns:p14="http://schemas.microsoft.com/office/powerpoint/2010/main" val="3225628892"/>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F66B1-B664-0A75-6C63-BCEA3BF5EB27}"/>
            </a:ext>
          </a:extLst>
        </p:cNvPr>
        <p:cNvGrpSpPr/>
        <p:nvPr/>
      </p:nvGrpSpPr>
      <p:grpSpPr>
        <a:xfrm>
          <a:off x="0" y="0"/>
          <a:ext cx="0" cy="0"/>
          <a:chOff x="0" y="0"/>
          <a:chExt cx="0" cy="0"/>
        </a:xfrm>
      </p:grpSpPr>
      <p:pic>
        <p:nvPicPr>
          <p:cNvPr id="1026" name="Picture 2" descr="Troubleshooting: Excessive Loss of Water from Main Engine Fresh Water  Expansion Tank">
            <a:extLst>
              <a:ext uri="{FF2B5EF4-FFF2-40B4-BE49-F238E27FC236}">
                <a16:creationId xmlns:a16="http://schemas.microsoft.com/office/drawing/2014/main" id="{0708549F-8707-6FFD-A34B-14EE124899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976" y="0"/>
            <a:ext cx="1450856" cy="193447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그룹 1">
            <a:extLst>
              <a:ext uri="{FF2B5EF4-FFF2-40B4-BE49-F238E27FC236}">
                <a16:creationId xmlns:a16="http://schemas.microsoft.com/office/drawing/2014/main" id="{3C56BD61-6106-8EB0-D91A-E42EB798A44E}"/>
              </a:ext>
            </a:extLst>
          </p:cNvPr>
          <p:cNvGrpSpPr/>
          <p:nvPr/>
        </p:nvGrpSpPr>
        <p:grpSpPr>
          <a:xfrm>
            <a:off x="1672832" y="0"/>
            <a:ext cx="7187123" cy="5143500"/>
            <a:chOff x="1672832" y="0"/>
            <a:chExt cx="7187123" cy="5143500"/>
          </a:xfrm>
        </p:grpSpPr>
        <p:pic>
          <p:nvPicPr>
            <p:cNvPr id="9" name="그림 8">
              <a:extLst>
                <a:ext uri="{FF2B5EF4-FFF2-40B4-BE49-F238E27FC236}">
                  <a16:creationId xmlns:a16="http://schemas.microsoft.com/office/drawing/2014/main" id="{B49BD0E7-6C50-F765-8007-A179410CA137}"/>
                </a:ext>
              </a:extLst>
            </p:cNvPr>
            <p:cNvPicPr>
              <a:picLocks noChangeAspect="1"/>
            </p:cNvPicPr>
            <p:nvPr/>
          </p:nvPicPr>
          <p:blipFill>
            <a:blip r:embed="rId3"/>
            <a:stretch>
              <a:fillRect/>
            </a:stretch>
          </p:blipFill>
          <p:spPr>
            <a:xfrm>
              <a:off x="1672832" y="0"/>
              <a:ext cx="7187123" cy="5143500"/>
            </a:xfrm>
            <a:prstGeom prst="rect">
              <a:avLst/>
            </a:prstGeom>
          </p:spPr>
        </p:pic>
        <p:cxnSp>
          <p:nvCxnSpPr>
            <p:cNvPr id="11" name="직선 화살표 연결선 10">
              <a:extLst>
                <a:ext uri="{FF2B5EF4-FFF2-40B4-BE49-F238E27FC236}">
                  <a16:creationId xmlns:a16="http://schemas.microsoft.com/office/drawing/2014/main" id="{5FE96952-7C9A-B3B5-990F-8E5BC2F333BB}"/>
                </a:ext>
              </a:extLst>
            </p:cNvPr>
            <p:cNvCxnSpPr>
              <a:cxnSpLocks/>
            </p:cNvCxnSpPr>
            <p:nvPr/>
          </p:nvCxnSpPr>
          <p:spPr>
            <a:xfrm flipH="1">
              <a:off x="4095319" y="3790771"/>
              <a:ext cx="4342899"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직선 화살표 연결선 13">
              <a:extLst>
                <a:ext uri="{FF2B5EF4-FFF2-40B4-BE49-F238E27FC236}">
                  <a16:creationId xmlns:a16="http://schemas.microsoft.com/office/drawing/2014/main" id="{74244D5B-4067-2253-2D1C-3FD06B340CB6}"/>
                </a:ext>
              </a:extLst>
            </p:cNvPr>
            <p:cNvCxnSpPr>
              <a:cxnSpLocks/>
            </p:cNvCxnSpPr>
            <p:nvPr/>
          </p:nvCxnSpPr>
          <p:spPr>
            <a:xfrm>
              <a:off x="4104843" y="3797914"/>
              <a:ext cx="0" cy="37147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6" name="직선 화살표 연결선 15">
              <a:extLst>
                <a:ext uri="{FF2B5EF4-FFF2-40B4-BE49-F238E27FC236}">
                  <a16:creationId xmlns:a16="http://schemas.microsoft.com/office/drawing/2014/main" id="{265A08FD-2996-FF04-0EB1-95F5B2113B23}"/>
                </a:ext>
              </a:extLst>
            </p:cNvPr>
            <p:cNvCxnSpPr>
              <a:cxnSpLocks/>
            </p:cNvCxnSpPr>
            <p:nvPr/>
          </p:nvCxnSpPr>
          <p:spPr>
            <a:xfrm flipH="1">
              <a:off x="3685743" y="4164626"/>
              <a:ext cx="41910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9" name="직선 화살표 연결선 18">
              <a:extLst>
                <a:ext uri="{FF2B5EF4-FFF2-40B4-BE49-F238E27FC236}">
                  <a16:creationId xmlns:a16="http://schemas.microsoft.com/office/drawing/2014/main" id="{B7A62FBC-282A-496F-ED0B-DA10514598C8}"/>
                </a:ext>
              </a:extLst>
            </p:cNvPr>
            <p:cNvCxnSpPr>
              <a:cxnSpLocks/>
            </p:cNvCxnSpPr>
            <p:nvPr/>
          </p:nvCxnSpPr>
          <p:spPr>
            <a:xfrm flipH="1">
              <a:off x="2847543" y="4166827"/>
              <a:ext cx="47337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1" name="직선 화살표 연결선 20">
              <a:extLst>
                <a:ext uri="{FF2B5EF4-FFF2-40B4-BE49-F238E27FC236}">
                  <a16:creationId xmlns:a16="http://schemas.microsoft.com/office/drawing/2014/main" id="{0F15EBEA-2C88-1A8D-9418-1D9764B4DC84}"/>
                </a:ext>
              </a:extLst>
            </p:cNvPr>
            <p:cNvCxnSpPr>
              <a:cxnSpLocks/>
            </p:cNvCxnSpPr>
            <p:nvPr/>
          </p:nvCxnSpPr>
          <p:spPr>
            <a:xfrm flipV="1">
              <a:off x="2447740" y="3962399"/>
              <a:ext cx="596948" cy="202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3" name="직선 연결선 22">
              <a:extLst>
                <a:ext uri="{FF2B5EF4-FFF2-40B4-BE49-F238E27FC236}">
                  <a16:creationId xmlns:a16="http://schemas.microsoft.com/office/drawing/2014/main" id="{34A2D46C-C7CF-9C67-6E42-567624B345E3}"/>
                </a:ext>
              </a:extLst>
            </p:cNvPr>
            <p:cNvCxnSpPr/>
            <p:nvPr/>
          </p:nvCxnSpPr>
          <p:spPr>
            <a:xfrm>
              <a:off x="2531335" y="4164626"/>
              <a:ext cx="106159"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직선 연결선 23">
              <a:extLst>
                <a:ext uri="{FF2B5EF4-FFF2-40B4-BE49-F238E27FC236}">
                  <a16:creationId xmlns:a16="http://schemas.microsoft.com/office/drawing/2014/main" id="{737ECDBC-3E2C-EA9F-58DB-47F57228D552}"/>
                </a:ext>
              </a:extLst>
            </p:cNvPr>
            <p:cNvCxnSpPr>
              <a:cxnSpLocks/>
            </p:cNvCxnSpPr>
            <p:nvPr/>
          </p:nvCxnSpPr>
          <p:spPr>
            <a:xfrm>
              <a:off x="2455827" y="3962399"/>
              <a:ext cx="0" cy="109357"/>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직선 연결선 27">
              <a:extLst>
                <a:ext uri="{FF2B5EF4-FFF2-40B4-BE49-F238E27FC236}">
                  <a16:creationId xmlns:a16="http://schemas.microsoft.com/office/drawing/2014/main" id="{5B0734A2-579C-9AB4-D798-9A9C23182BEF}"/>
                </a:ext>
              </a:extLst>
            </p:cNvPr>
            <p:cNvCxnSpPr>
              <a:cxnSpLocks/>
            </p:cNvCxnSpPr>
            <p:nvPr/>
          </p:nvCxnSpPr>
          <p:spPr>
            <a:xfrm>
              <a:off x="3042307" y="3876675"/>
              <a:ext cx="0" cy="85365"/>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직선 연결선 29">
              <a:extLst>
                <a:ext uri="{FF2B5EF4-FFF2-40B4-BE49-F238E27FC236}">
                  <a16:creationId xmlns:a16="http://schemas.microsoft.com/office/drawing/2014/main" id="{A93C8B30-650A-F3E1-145A-A208EA88017C}"/>
                </a:ext>
              </a:extLst>
            </p:cNvPr>
            <p:cNvCxnSpPr>
              <a:cxnSpLocks/>
            </p:cNvCxnSpPr>
            <p:nvPr/>
          </p:nvCxnSpPr>
          <p:spPr>
            <a:xfrm>
              <a:off x="3004205" y="3869528"/>
              <a:ext cx="47628"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직선 화살표 연결선 33">
              <a:extLst>
                <a:ext uri="{FF2B5EF4-FFF2-40B4-BE49-F238E27FC236}">
                  <a16:creationId xmlns:a16="http://schemas.microsoft.com/office/drawing/2014/main" id="{E697DEA0-0EC2-8A54-AA44-78338FF95CFF}"/>
                </a:ext>
              </a:extLst>
            </p:cNvPr>
            <p:cNvCxnSpPr>
              <a:cxnSpLocks/>
            </p:cNvCxnSpPr>
            <p:nvPr/>
          </p:nvCxnSpPr>
          <p:spPr>
            <a:xfrm flipH="1">
              <a:off x="2508907" y="3871913"/>
              <a:ext cx="39052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6" name="직선 연결선 35">
              <a:extLst>
                <a:ext uri="{FF2B5EF4-FFF2-40B4-BE49-F238E27FC236}">
                  <a16:creationId xmlns:a16="http://schemas.microsoft.com/office/drawing/2014/main" id="{99A4311A-A2FA-E6FF-5E53-22CD14CF33F0}"/>
                </a:ext>
              </a:extLst>
            </p:cNvPr>
            <p:cNvCxnSpPr>
              <a:cxnSpLocks/>
            </p:cNvCxnSpPr>
            <p:nvPr/>
          </p:nvCxnSpPr>
          <p:spPr>
            <a:xfrm>
              <a:off x="2516049" y="3821903"/>
              <a:ext cx="0" cy="47629"/>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직선 연결선 37">
              <a:extLst>
                <a:ext uri="{FF2B5EF4-FFF2-40B4-BE49-F238E27FC236}">
                  <a16:creationId xmlns:a16="http://schemas.microsoft.com/office/drawing/2014/main" id="{CB5846D8-EDF0-6F50-A602-C032E4B482B6}"/>
                </a:ext>
              </a:extLst>
            </p:cNvPr>
            <p:cNvCxnSpPr>
              <a:cxnSpLocks/>
            </p:cNvCxnSpPr>
            <p:nvPr/>
          </p:nvCxnSpPr>
          <p:spPr>
            <a:xfrm>
              <a:off x="2516049" y="3669503"/>
              <a:ext cx="0" cy="3600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9" name="직선 화살표 연결선 38">
              <a:extLst>
                <a:ext uri="{FF2B5EF4-FFF2-40B4-BE49-F238E27FC236}">
                  <a16:creationId xmlns:a16="http://schemas.microsoft.com/office/drawing/2014/main" id="{D6812F99-8684-27C0-AF04-5D180188BDEF}"/>
                </a:ext>
              </a:extLst>
            </p:cNvPr>
            <p:cNvCxnSpPr>
              <a:cxnSpLocks/>
            </p:cNvCxnSpPr>
            <p:nvPr/>
          </p:nvCxnSpPr>
          <p:spPr>
            <a:xfrm>
              <a:off x="2508906" y="3669144"/>
              <a:ext cx="631032" cy="35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1" name="직선 화살표 연결선 40">
              <a:extLst>
                <a:ext uri="{FF2B5EF4-FFF2-40B4-BE49-F238E27FC236}">
                  <a16:creationId xmlns:a16="http://schemas.microsoft.com/office/drawing/2014/main" id="{B5F73707-4E50-4196-5354-4395426726DA}"/>
                </a:ext>
              </a:extLst>
            </p:cNvPr>
            <p:cNvCxnSpPr>
              <a:cxnSpLocks/>
            </p:cNvCxnSpPr>
            <p:nvPr/>
          </p:nvCxnSpPr>
          <p:spPr>
            <a:xfrm flipH="1">
              <a:off x="3137557" y="3669144"/>
              <a:ext cx="2381" cy="16494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4" name="직선 화살표 연결선 43">
              <a:extLst>
                <a:ext uri="{FF2B5EF4-FFF2-40B4-BE49-F238E27FC236}">
                  <a16:creationId xmlns:a16="http://schemas.microsoft.com/office/drawing/2014/main" id="{1E67048C-B333-12FB-C8FF-347D2A3BD417}"/>
                </a:ext>
              </a:extLst>
            </p:cNvPr>
            <p:cNvCxnSpPr>
              <a:cxnSpLocks/>
            </p:cNvCxnSpPr>
            <p:nvPr/>
          </p:nvCxnSpPr>
          <p:spPr>
            <a:xfrm flipV="1">
              <a:off x="3168513" y="3871909"/>
              <a:ext cx="159543" cy="238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9" name="직선 연결선 48">
              <a:extLst>
                <a:ext uri="{FF2B5EF4-FFF2-40B4-BE49-F238E27FC236}">
                  <a16:creationId xmlns:a16="http://schemas.microsoft.com/office/drawing/2014/main" id="{9E5FD32A-3E31-D7D5-52BB-EA36EA139FDA}"/>
                </a:ext>
              </a:extLst>
            </p:cNvPr>
            <p:cNvCxnSpPr>
              <a:cxnSpLocks/>
            </p:cNvCxnSpPr>
            <p:nvPr/>
          </p:nvCxnSpPr>
          <p:spPr>
            <a:xfrm>
              <a:off x="3492362" y="3826944"/>
              <a:ext cx="0" cy="47629"/>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0" name="직선 연결선 49">
              <a:extLst>
                <a:ext uri="{FF2B5EF4-FFF2-40B4-BE49-F238E27FC236}">
                  <a16:creationId xmlns:a16="http://schemas.microsoft.com/office/drawing/2014/main" id="{6172AC72-DE99-3B2C-08BB-6C170CEA7798}"/>
                </a:ext>
              </a:extLst>
            </p:cNvPr>
            <p:cNvCxnSpPr>
              <a:cxnSpLocks/>
            </p:cNvCxnSpPr>
            <p:nvPr/>
          </p:nvCxnSpPr>
          <p:spPr>
            <a:xfrm flipH="1">
              <a:off x="3451381" y="3872192"/>
              <a:ext cx="40981"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2" name="직선 화살표 연결선 51">
              <a:extLst>
                <a:ext uri="{FF2B5EF4-FFF2-40B4-BE49-F238E27FC236}">
                  <a16:creationId xmlns:a16="http://schemas.microsoft.com/office/drawing/2014/main" id="{57CAE6EC-C8CC-1D98-17F7-D0D491D2D5A2}"/>
                </a:ext>
              </a:extLst>
            </p:cNvPr>
            <p:cNvCxnSpPr>
              <a:cxnSpLocks/>
            </p:cNvCxnSpPr>
            <p:nvPr/>
          </p:nvCxnSpPr>
          <p:spPr>
            <a:xfrm>
              <a:off x="3537607" y="3790771"/>
              <a:ext cx="41910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5" name="직선 화살표 연결선 54">
              <a:extLst>
                <a:ext uri="{FF2B5EF4-FFF2-40B4-BE49-F238E27FC236}">
                  <a16:creationId xmlns:a16="http://schemas.microsoft.com/office/drawing/2014/main" id="{151C383F-AA18-0553-D4F0-7066BAE7AD39}"/>
                </a:ext>
              </a:extLst>
            </p:cNvPr>
            <p:cNvCxnSpPr>
              <a:cxnSpLocks/>
            </p:cNvCxnSpPr>
            <p:nvPr/>
          </p:nvCxnSpPr>
          <p:spPr>
            <a:xfrm flipV="1">
              <a:off x="3956707" y="3611303"/>
              <a:ext cx="0" cy="17946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8" name="직선 화살표 연결선 57">
              <a:extLst>
                <a:ext uri="{FF2B5EF4-FFF2-40B4-BE49-F238E27FC236}">
                  <a16:creationId xmlns:a16="http://schemas.microsoft.com/office/drawing/2014/main" id="{3A62EFE4-5A36-E503-3890-395F8E43C867}"/>
                </a:ext>
              </a:extLst>
            </p:cNvPr>
            <p:cNvCxnSpPr>
              <a:cxnSpLocks/>
            </p:cNvCxnSpPr>
            <p:nvPr/>
          </p:nvCxnSpPr>
          <p:spPr>
            <a:xfrm>
              <a:off x="3951945" y="3606541"/>
              <a:ext cx="652462"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0" name="직선 화살표 연결선 59">
              <a:extLst>
                <a:ext uri="{FF2B5EF4-FFF2-40B4-BE49-F238E27FC236}">
                  <a16:creationId xmlns:a16="http://schemas.microsoft.com/office/drawing/2014/main" id="{C69DEBE8-42EA-9DAA-6771-B4D979DA8363}"/>
                </a:ext>
              </a:extLst>
            </p:cNvPr>
            <p:cNvCxnSpPr>
              <a:cxnSpLocks/>
            </p:cNvCxnSpPr>
            <p:nvPr/>
          </p:nvCxnSpPr>
          <p:spPr>
            <a:xfrm>
              <a:off x="4686955" y="3606541"/>
              <a:ext cx="3722689"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2" name="직선 화살표 연결선 61">
              <a:extLst>
                <a:ext uri="{FF2B5EF4-FFF2-40B4-BE49-F238E27FC236}">
                  <a16:creationId xmlns:a16="http://schemas.microsoft.com/office/drawing/2014/main" id="{5CEBB59F-42C5-0080-F8BE-08074AAEAFE3}"/>
                </a:ext>
              </a:extLst>
            </p:cNvPr>
            <p:cNvCxnSpPr>
              <a:cxnSpLocks/>
            </p:cNvCxnSpPr>
            <p:nvPr/>
          </p:nvCxnSpPr>
          <p:spPr>
            <a:xfrm flipH="1">
              <a:off x="2762907" y="3376353"/>
              <a:ext cx="5331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24" name="직선 화살표 연결선 1023">
              <a:extLst>
                <a:ext uri="{FF2B5EF4-FFF2-40B4-BE49-F238E27FC236}">
                  <a16:creationId xmlns:a16="http://schemas.microsoft.com/office/drawing/2014/main" id="{13A6E785-3E51-03F3-83D8-F46795248BC7}"/>
                </a:ext>
              </a:extLst>
            </p:cNvPr>
            <p:cNvCxnSpPr>
              <a:cxnSpLocks/>
            </p:cNvCxnSpPr>
            <p:nvPr/>
          </p:nvCxnSpPr>
          <p:spPr>
            <a:xfrm flipH="1">
              <a:off x="1834219" y="3378474"/>
              <a:ext cx="84468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28" name="직선 화살표 연결선 1027">
              <a:extLst>
                <a:ext uri="{FF2B5EF4-FFF2-40B4-BE49-F238E27FC236}">
                  <a16:creationId xmlns:a16="http://schemas.microsoft.com/office/drawing/2014/main" id="{922EA2DD-5E9D-B7D4-A418-97156918FEE1}"/>
                </a:ext>
              </a:extLst>
            </p:cNvPr>
            <p:cNvCxnSpPr>
              <a:cxnSpLocks/>
            </p:cNvCxnSpPr>
            <p:nvPr/>
          </p:nvCxnSpPr>
          <p:spPr>
            <a:xfrm flipV="1">
              <a:off x="1837394" y="412750"/>
              <a:ext cx="0" cy="296677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sp>
        <p:nvSpPr>
          <p:cNvPr id="1031" name="TextBox 1030">
            <a:extLst>
              <a:ext uri="{FF2B5EF4-FFF2-40B4-BE49-F238E27FC236}">
                <a16:creationId xmlns:a16="http://schemas.microsoft.com/office/drawing/2014/main" id="{31D9BB6D-9B3C-44E4-12ED-1B81E0A0CF5A}"/>
              </a:ext>
            </a:extLst>
          </p:cNvPr>
          <p:cNvSpPr txBox="1"/>
          <p:nvPr/>
        </p:nvSpPr>
        <p:spPr>
          <a:xfrm>
            <a:off x="426704" y="1934475"/>
            <a:ext cx="1041400" cy="812530"/>
          </a:xfrm>
          <a:prstGeom prst="rect">
            <a:avLst/>
          </a:prstGeom>
          <a:noFill/>
        </p:spPr>
        <p:txBody>
          <a:bodyPr wrap="square" rtlCol="0">
            <a:spAutoFit/>
          </a:bodyPr>
          <a:lstStyle/>
          <a:p>
            <a:pPr algn="ctr">
              <a:lnSpc>
                <a:spcPct val="90000"/>
              </a:lnSpc>
            </a:pPr>
            <a:r>
              <a:rPr lang="en-US" altLang="ko-KR" sz="1300" b="1" dirty="0">
                <a:latin typeface="Calibri" panose="020F0502020204030204" pitchFamily="34" charset="0"/>
              </a:rPr>
              <a:t>Cooling </a:t>
            </a:r>
          </a:p>
          <a:p>
            <a:pPr algn="ctr">
              <a:lnSpc>
                <a:spcPct val="90000"/>
              </a:lnSpc>
            </a:pPr>
            <a:r>
              <a:rPr lang="en-US" altLang="ko-KR" sz="1300" b="1" dirty="0">
                <a:latin typeface="Calibri" panose="020F0502020204030204" pitchFamily="34" charset="0"/>
              </a:rPr>
              <a:t>fresh water expansion tank</a:t>
            </a:r>
            <a:endParaRPr lang="ko-KR" altLang="en-US" sz="1300" b="1" dirty="0">
              <a:latin typeface="Calibri" panose="020F0502020204030204" pitchFamily="34" charset="0"/>
            </a:endParaRPr>
          </a:p>
        </p:txBody>
      </p:sp>
    </p:spTree>
    <p:extLst>
      <p:ext uri="{BB962C8B-B14F-4D97-AF65-F5344CB8AC3E}">
        <p14:creationId xmlns:p14="http://schemas.microsoft.com/office/powerpoint/2010/main" val="819342991"/>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0A7A5-0031-530D-0DD1-0C8A599C2AC8}"/>
            </a:ext>
          </a:extLst>
        </p:cNvPr>
        <p:cNvGrpSpPr/>
        <p:nvPr/>
      </p:nvGrpSpPr>
      <p:grpSpPr>
        <a:xfrm>
          <a:off x="0" y="0"/>
          <a:ext cx="0" cy="0"/>
          <a:chOff x="0" y="0"/>
          <a:chExt cx="0" cy="0"/>
        </a:xfrm>
      </p:grpSpPr>
      <p:pic>
        <p:nvPicPr>
          <p:cNvPr id="1026" name="Picture 2" descr="Troubleshooting: Excessive Loss of Water from Main Engine Fresh Water  Expansion Tank">
            <a:extLst>
              <a:ext uri="{FF2B5EF4-FFF2-40B4-BE49-F238E27FC236}">
                <a16:creationId xmlns:a16="http://schemas.microsoft.com/office/drawing/2014/main" id="{BDC0E14B-E57B-6C32-6A8F-4F115D8ED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976" y="1471294"/>
            <a:ext cx="1450856" cy="1934475"/>
          </a:xfrm>
          <a:prstGeom prst="rect">
            <a:avLst/>
          </a:prstGeom>
          <a:noFill/>
          <a:extLst>
            <a:ext uri="{909E8E84-426E-40DD-AFC4-6F175D3DCCD1}">
              <a14:hiddenFill xmlns:a14="http://schemas.microsoft.com/office/drawing/2010/main">
                <a:solidFill>
                  <a:srgbClr val="FFFFFF"/>
                </a:solidFill>
              </a14:hiddenFill>
            </a:ext>
          </a:extLst>
        </p:spPr>
      </p:pic>
      <p:sp>
        <p:nvSpPr>
          <p:cNvPr id="1031" name="TextBox 1030">
            <a:extLst>
              <a:ext uri="{FF2B5EF4-FFF2-40B4-BE49-F238E27FC236}">
                <a16:creationId xmlns:a16="http://schemas.microsoft.com/office/drawing/2014/main" id="{B3103EFA-B78D-2FE9-2CAE-D76FE9BFB29B}"/>
              </a:ext>
            </a:extLst>
          </p:cNvPr>
          <p:cNvSpPr txBox="1"/>
          <p:nvPr/>
        </p:nvSpPr>
        <p:spPr>
          <a:xfrm>
            <a:off x="426704" y="3405769"/>
            <a:ext cx="1041400" cy="812530"/>
          </a:xfrm>
          <a:prstGeom prst="rect">
            <a:avLst/>
          </a:prstGeom>
          <a:noFill/>
        </p:spPr>
        <p:txBody>
          <a:bodyPr wrap="square" rtlCol="0">
            <a:spAutoFit/>
          </a:bodyPr>
          <a:lstStyle/>
          <a:p>
            <a:pPr algn="ctr">
              <a:lnSpc>
                <a:spcPct val="90000"/>
              </a:lnSpc>
            </a:pPr>
            <a:r>
              <a:rPr lang="en-US" altLang="ko-KR" sz="1300" b="1" dirty="0">
                <a:latin typeface="Calibri" panose="020F0502020204030204" pitchFamily="34" charset="0"/>
              </a:rPr>
              <a:t>Cooling </a:t>
            </a:r>
          </a:p>
          <a:p>
            <a:pPr algn="ctr">
              <a:lnSpc>
                <a:spcPct val="90000"/>
              </a:lnSpc>
            </a:pPr>
            <a:r>
              <a:rPr lang="en-US" altLang="ko-KR" sz="1300" b="1" dirty="0">
                <a:latin typeface="Calibri" panose="020F0502020204030204" pitchFamily="34" charset="0"/>
              </a:rPr>
              <a:t>fresh water expansion tank</a:t>
            </a:r>
            <a:endParaRPr lang="ko-KR" altLang="en-US" sz="1300" b="1" dirty="0">
              <a:latin typeface="Calibri" panose="020F0502020204030204" pitchFamily="34" charset="0"/>
            </a:endParaRPr>
          </a:p>
        </p:txBody>
      </p:sp>
      <p:pic>
        <p:nvPicPr>
          <p:cNvPr id="3" name="그림 2">
            <a:extLst>
              <a:ext uri="{FF2B5EF4-FFF2-40B4-BE49-F238E27FC236}">
                <a16:creationId xmlns:a16="http://schemas.microsoft.com/office/drawing/2014/main" id="{CCB86A4E-EF73-D257-83F7-31F2A9EC55D5}"/>
              </a:ext>
            </a:extLst>
          </p:cNvPr>
          <p:cNvPicPr>
            <a:picLocks noChangeAspect="1"/>
          </p:cNvPicPr>
          <p:nvPr/>
        </p:nvPicPr>
        <p:blipFill>
          <a:blip r:embed="rId3"/>
          <a:stretch>
            <a:fillRect/>
          </a:stretch>
        </p:blipFill>
        <p:spPr>
          <a:xfrm>
            <a:off x="1931817" y="1133170"/>
            <a:ext cx="6730919" cy="2766448"/>
          </a:xfrm>
          <a:prstGeom prst="rect">
            <a:avLst/>
          </a:prstGeom>
        </p:spPr>
      </p:pic>
      <p:cxnSp>
        <p:nvCxnSpPr>
          <p:cNvPr id="4" name="직선 화살표 연결선 3">
            <a:extLst>
              <a:ext uri="{FF2B5EF4-FFF2-40B4-BE49-F238E27FC236}">
                <a16:creationId xmlns:a16="http://schemas.microsoft.com/office/drawing/2014/main" id="{6BE7D8FE-50A7-8A51-532C-8D9E05888E60}"/>
              </a:ext>
            </a:extLst>
          </p:cNvPr>
          <p:cNvCxnSpPr>
            <a:cxnSpLocks/>
          </p:cNvCxnSpPr>
          <p:nvPr/>
        </p:nvCxnSpPr>
        <p:spPr>
          <a:xfrm>
            <a:off x="2716257" y="3746694"/>
            <a:ext cx="194146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 name="직선 화살표 연결선 5">
            <a:extLst>
              <a:ext uri="{FF2B5EF4-FFF2-40B4-BE49-F238E27FC236}">
                <a16:creationId xmlns:a16="http://schemas.microsoft.com/office/drawing/2014/main" id="{5870772F-A73E-4963-DAC9-B47DACDDD892}"/>
              </a:ext>
            </a:extLst>
          </p:cNvPr>
          <p:cNvCxnSpPr>
            <a:cxnSpLocks/>
          </p:cNvCxnSpPr>
          <p:nvPr/>
        </p:nvCxnSpPr>
        <p:spPr>
          <a:xfrm>
            <a:off x="5236369" y="3746288"/>
            <a:ext cx="276225" cy="40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 name="직선 화살표 연결선 9">
            <a:extLst>
              <a:ext uri="{FF2B5EF4-FFF2-40B4-BE49-F238E27FC236}">
                <a16:creationId xmlns:a16="http://schemas.microsoft.com/office/drawing/2014/main" id="{104A52F2-17D1-293C-E2CF-DFBC531C3B92}"/>
              </a:ext>
            </a:extLst>
          </p:cNvPr>
          <p:cNvCxnSpPr>
            <a:cxnSpLocks/>
          </p:cNvCxnSpPr>
          <p:nvPr/>
        </p:nvCxnSpPr>
        <p:spPr>
          <a:xfrm flipV="1">
            <a:off x="5505451" y="3505200"/>
            <a:ext cx="0" cy="24149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5" name="직선 화살표 연결선 14">
            <a:extLst>
              <a:ext uri="{FF2B5EF4-FFF2-40B4-BE49-F238E27FC236}">
                <a16:creationId xmlns:a16="http://schemas.microsoft.com/office/drawing/2014/main" id="{10D49CB0-43F6-2387-4DFE-F728DEB7A632}"/>
              </a:ext>
            </a:extLst>
          </p:cNvPr>
          <p:cNvCxnSpPr>
            <a:cxnSpLocks/>
          </p:cNvCxnSpPr>
          <p:nvPr/>
        </p:nvCxnSpPr>
        <p:spPr>
          <a:xfrm>
            <a:off x="4791076" y="3746288"/>
            <a:ext cx="195263" cy="46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5423524"/>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159D-ED66-163F-4557-8B084A9F5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E0F28-250B-E24D-FABD-7C7D5F56AD08}"/>
              </a:ext>
            </a:extLst>
          </p:cNvPr>
          <p:cNvSpPr>
            <a:spLocks noGrp="1"/>
          </p:cNvSpPr>
          <p:nvPr>
            <p:ph type="title"/>
          </p:nvPr>
        </p:nvSpPr>
        <p:spPr>
          <a:xfrm>
            <a:off x="304799" y="304655"/>
            <a:ext cx="8392313" cy="535531"/>
          </a:xfrm>
        </p:spPr>
        <p:txBody>
          <a:bodyPr/>
          <a:lstStyle/>
          <a:p>
            <a:pPr>
              <a:spcAft>
                <a:spcPts val="1000"/>
              </a:spcAft>
            </a:pPr>
            <a:r>
              <a:rPr lang="en-US" altLang="ko-KR" dirty="0"/>
              <a:t>Cooling fresh water expansion tank</a:t>
            </a:r>
          </a:p>
        </p:txBody>
      </p:sp>
      <p:sp>
        <p:nvSpPr>
          <p:cNvPr id="3" name="Text Placeholder 2">
            <a:extLst>
              <a:ext uri="{FF2B5EF4-FFF2-40B4-BE49-F238E27FC236}">
                <a16:creationId xmlns:a16="http://schemas.microsoft.com/office/drawing/2014/main" id="{7915D3A3-7B83-5DDB-5EF2-6BFF7AE8A4F2}"/>
              </a:ext>
            </a:extLst>
          </p:cNvPr>
          <p:cNvSpPr>
            <a:spLocks noGrp="1"/>
          </p:cNvSpPr>
          <p:nvPr>
            <p:ph type="body" sz="quarter" idx="10"/>
          </p:nvPr>
        </p:nvSpPr>
        <p:spPr>
          <a:xfrm>
            <a:off x="339174" y="1058780"/>
            <a:ext cx="8529818" cy="3697565"/>
          </a:xfrm>
        </p:spPr>
        <p:txBody>
          <a:bodyPr>
            <a:normAutofit fontScale="77500" lnSpcReduction="20000"/>
          </a:bodyPr>
          <a:lstStyle/>
          <a:p>
            <a:pPr marL="0" indent="0">
              <a:spcAft>
                <a:spcPts val="1000"/>
              </a:spcAft>
              <a:buNone/>
            </a:pPr>
            <a:r>
              <a:rPr lang="en-US" altLang="ko-KR" sz="1600" b="1" dirty="0"/>
              <a:t>Cooling water storage and replenishment function</a:t>
            </a:r>
          </a:p>
          <a:p>
            <a:pPr marL="0" indent="0">
              <a:spcAft>
                <a:spcPts val="1000"/>
              </a:spcAft>
              <a:buNone/>
            </a:pPr>
            <a:r>
              <a:rPr lang="en-US" altLang="ko-KR" sz="1600" dirty="0"/>
              <a:t>Stores cooling water (fresh water) used to cool the engine. It replenishes cooling water lost to evaporation, leakage, etc. during operation.</a:t>
            </a:r>
          </a:p>
          <a:p>
            <a:pPr marL="0" indent="0">
              <a:spcAft>
                <a:spcPts val="1000"/>
              </a:spcAft>
              <a:buNone/>
            </a:pPr>
            <a:r>
              <a:rPr lang="en-US" altLang="ko-KR" sz="1600" b="1" dirty="0"/>
              <a:t>Provides space for cooling water expansion (acts as an expansion tank)</a:t>
            </a:r>
          </a:p>
          <a:p>
            <a:pPr marL="0" indent="0">
              <a:spcAft>
                <a:spcPts val="1000"/>
              </a:spcAft>
              <a:buNone/>
            </a:pPr>
            <a:r>
              <a:rPr lang="en-US" altLang="ko-KR" sz="1600" dirty="0"/>
              <a:t>When the engine is running, the cooling water heats and expands. The cooling fresh water expansion tank receives this expanded cooling water, maintaining stable cooling system pressure.</a:t>
            </a:r>
          </a:p>
          <a:p>
            <a:pPr marL="0" indent="0">
              <a:spcAft>
                <a:spcPts val="1000"/>
              </a:spcAft>
              <a:buNone/>
            </a:pPr>
            <a:r>
              <a:rPr lang="en-US" altLang="ko-KR" sz="1600" b="1" dirty="0"/>
              <a:t>Cooling water degassing</a:t>
            </a:r>
          </a:p>
          <a:p>
            <a:pPr marL="0" indent="0">
              <a:spcAft>
                <a:spcPts val="1000"/>
              </a:spcAft>
              <a:buNone/>
            </a:pPr>
            <a:r>
              <a:rPr lang="en-US" altLang="ko-KR" sz="1600" dirty="0"/>
              <a:t>During operation, air (gas) bubbles may form in the cooling water. The tank provides a space for this gas to separate and escape, preventing cavitation and ensuring circulation stability.</a:t>
            </a:r>
          </a:p>
          <a:p>
            <a:pPr marL="0" indent="0">
              <a:spcAft>
                <a:spcPts val="1000"/>
              </a:spcAft>
              <a:buNone/>
            </a:pPr>
            <a:r>
              <a:rPr lang="en-US" altLang="ko-KR" sz="1600" b="1" dirty="0"/>
              <a:t>Maintains circulation pressure</a:t>
            </a:r>
          </a:p>
          <a:p>
            <a:pPr marL="0" indent="0">
              <a:spcAft>
                <a:spcPts val="1000"/>
              </a:spcAft>
              <a:buNone/>
            </a:pPr>
            <a:r>
              <a:rPr lang="en-US" altLang="ko-KR" sz="1600" dirty="0"/>
              <a:t>Since the cooling water system is a closed circulation system, the tank acts as a head tank, maintaining a constant water head. This ensures stable inlet pressure to the pump.</a:t>
            </a:r>
          </a:p>
          <a:p>
            <a:pPr marL="0" indent="0">
              <a:spcAft>
                <a:spcPts val="1000"/>
              </a:spcAft>
              <a:buNone/>
            </a:pPr>
            <a:r>
              <a:rPr lang="en-US" altLang="ko-KR" sz="1600" b="1" dirty="0"/>
              <a:t>Cooling water quality control</a:t>
            </a:r>
          </a:p>
          <a:p>
            <a:pPr marL="0" indent="0">
              <a:spcAft>
                <a:spcPts val="1000"/>
              </a:spcAft>
              <a:buNone/>
            </a:pPr>
            <a:r>
              <a:rPr lang="en-US" altLang="ko-KR" sz="1600" dirty="0"/>
              <a:t>Cooling fresh water expansion tanks typically have chemical inlets, allowing the addition of corrosion inhibitors or alkalinity regulators to prevent corrosion and scale. </a:t>
            </a:r>
            <a:endParaRPr lang="en-US" sz="1600" dirty="0">
              <a:solidFill>
                <a:srgbClr val="000000"/>
              </a:solidFill>
            </a:endParaRPr>
          </a:p>
        </p:txBody>
      </p:sp>
      <p:pic>
        <p:nvPicPr>
          <p:cNvPr id="1026" name="Picture 2" descr="Freyssinet expansion joints for roads and viaducts">
            <a:extLst>
              <a:ext uri="{FF2B5EF4-FFF2-40B4-BE49-F238E27FC236}">
                <a16:creationId xmlns:a16="http://schemas.microsoft.com/office/drawing/2014/main" id="{8B8A7464-8F22-8318-3D78-E020D9EFD5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3922" y="0"/>
            <a:ext cx="2820078" cy="969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150414"/>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E1AAD-BC7C-A57E-CB0B-12D8355BF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186E9-0F3D-AABD-7C9B-2A547F69B19B}"/>
              </a:ext>
            </a:extLst>
          </p:cNvPr>
          <p:cNvSpPr>
            <a:spLocks noGrp="1"/>
          </p:cNvSpPr>
          <p:nvPr>
            <p:ph type="title"/>
          </p:nvPr>
        </p:nvSpPr>
        <p:spPr>
          <a:xfrm>
            <a:off x="304799" y="304655"/>
            <a:ext cx="8392313" cy="535531"/>
          </a:xfrm>
        </p:spPr>
        <p:txBody>
          <a:bodyPr/>
          <a:lstStyle/>
          <a:p>
            <a:pPr>
              <a:spcAft>
                <a:spcPts val="1000"/>
              </a:spcAft>
            </a:pPr>
            <a:r>
              <a:rPr lang="en-US" altLang="ko-KR" dirty="0"/>
              <a:t>Cooling fresh water expansion tank</a:t>
            </a:r>
          </a:p>
        </p:txBody>
      </p:sp>
      <p:pic>
        <p:nvPicPr>
          <p:cNvPr id="6" name="온라인 미디어 5" title="Expansion tank">
            <a:hlinkClick r:id="" action="ppaction://media"/>
            <a:extLst>
              <a:ext uri="{FF2B5EF4-FFF2-40B4-BE49-F238E27FC236}">
                <a16:creationId xmlns:a16="http://schemas.microsoft.com/office/drawing/2014/main" id="{29FF73AA-3C51-C439-528A-3FCE0BC76BA4}"/>
              </a:ext>
            </a:extLst>
          </p:cNvPr>
          <p:cNvPicPr>
            <a:picLocks noRot="1" noChangeAspect="1"/>
          </p:cNvPicPr>
          <p:nvPr>
            <a:videoFile r:link="rId1"/>
          </p:nvPr>
        </p:nvPicPr>
        <p:blipFill>
          <a:blip r:embed="rId3"/>
          <a:stretch>
            <a:fillRect/>
          </a:stretch>
        </p:blipFill>
        <p:spPr>
          <a:xfrm>
            <a:off x="1974120" y="826436"/>
            <a:ext cx="5195759" cy="3896819"/>
          </a:xfrm>
          <a:prstGeom prst="rect">
            <a:avLst/>
          </a:prstGeom>
        </p:spPr>
      </p:pic>
    </p:spTree>
    <p:extLst>
      <p:ext uri="{BB962C8B-B14F-4D97-AF65-F5344CB8AC3E}">
        <p14:creationId xmlns:p14="http://schemas.microsoft.com/office/powerpoint/2010/main" val="297869595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03C0-4F4B-F02F-3C6A-69DC9EF0F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478A7-649F-0880-6348-DCBE042D6007}"/>
              </a:ext>
            </a:extLst>
          </p:cNvPr>
          <p:cNvSpPr>
            <a:spLocks noGrp="1"/>
          </p:cNvSpPr>
          <p:nvPr>
            <p:ph type="title"/>
          </p:nvPr>
        </p:nvSpPr>
        <p:spPr>
          <a:xfrm>
            <a:off x="304799" y="304655"/>
            <a:ext cx="8392313" cy="535531"/>
          </a:xfrm>
        </p:spPr>
        <p:txBody>
          <a:bodyPr/>
          <a:lstStyle/>
          <a:p>
            <a:pPr>
              <a:spcAft>
                <a:spcPts val="1000"/>
              </a:spcAft>
            </a:pPr>
            <a:r>
              <a:rPr lang="en-US" altLang="ko-KR" dirty="0"/>
              <a:t>Cooling fresh water expansion tank</a:t>
            </a:r>
          </a:p>
        </p:txBody>
      </p:sp>
      <p:pic>
        <p:nvPicPr>
          <p:cNvPr id="3" name="온라인 미디어 2" title="😱Engine Coolant Crisis: Draining the Overflow! | Inside the Ship’s Freshwater Expansion Tank #short">
            <a:hlinkClick r:id="" action="ppaction://media"/>
            <a:extLst>
              <a:ext uri="{FF2B5EF4-FFF2-40B4-BE49-F238E27FC236}">
                <a16:creationId xmlns:a16="http://schemas.microsoft.com/office/drawing/2014/main" id="{52F7EF62-963A-6DE3-FEA2-A8E34E63E130}"/>
              </a:ext>
            </a:extLst>
          </p:cNvPr>
          <p:cNvPicPr>
            <a:picLocks noRot="1" noChangeAspect="1"/>
          </p:cNvPicPr>
          <p:nvPr>
            <a:videoFile r:link="rId1"/>
          </p:nvPr>
        </p:nvPicPr>
        <p:blipFill>
          <a:blip r:embed="rId3"/>
          <a:stretch>
            <a:fillRect/>
          </a:stretch>
        </p:blipFill>
        <p:spPr>
          <a:xfrm>
            <a:off x="3356048" y="840186"/>
            <a:ext cx="2431904" cy="4303314"/>
          </a:xfrm>
          <a:prstGeom prst="rect">
            <a:avLst/>
          </a:prstGeom>
        </p:spPr>
      </p:pic>
    </p:spTree>
    <p:extLst>
      <p:ext uri="{BB962C8B-B14F-4D97-AF65-F5344CB8AC3E}">
        <p14:creationId xmlns:p14="http://schemas.microsoft.com/office/powerpoint/2010/main" val="163166751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59490-2444-8121-E313-D5C422D98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281FB-56EF-730F-4518-B039B44BF21A}"/>
              </a:ext>
            </a:extLst>
          </p:cNvPr>
          <p:cNvSpPr>
            <a:spLocks noGrp="1"/>
          </p:cNvSpPr>
          <p:nvPr>
            <p:ph type="title"/>
          </p:nvPr>
        </p:nvSpPr>
        <p:spPr>
          <a:xfrm>
            <a:off x="304799" y="304655"/>
            <a:ext cx="8392313" cy="535531"/>
          </a:xfrm>
        </p:spPr>
        <p:txBody>
          <a:bodyPr/>
          <a:lstStyle/>
          <a:p>
            <a:r>
              <a:rPr lang="nb-NO" altLang="ko-KR" dirty="0" err="1"/>
              <a:t>Cooling</a:t>
            </a:r>
            <a:r>
              <a:rPr lang="nb-NO" altLang="ko-KR" dirty="0"/>
              <a:t> water system (</a:t>
            </a:r>
            <a:r>
              <a:rPr lang="nb-NO" altLang="ko-KR" dirty="0" err="1"/>
              <a:t>HiMSEN</a:t>
            </a:r>
            <a:r>
              <a:rPr lang="nb-NO" altLang="ko-KR" dirty="0"/>
              <a:t>)</a:t>
            </a:r>
            <a:endParaRPr lang="en-US" dirty="0"/>
          </a:p>
        </p:txBody>
      </p:sp>
      <p:sp>
        <p:nvSpPr>
          <p:cNvPr id="3" name="Text Placeholder 2">
            <a:extLst>
              <a:ext uri="{FF2B5EF4-FFF2-40B4-BE49-F238E27FC236}">
                <a16:creationId xmlns:a16="http://schemas.microsoft.com/office/drawing/2014/main" id="{455436E8-6D92-8A25-61C9-A8AC04F3A295}"/>
              </a:ext>
            </a:extLst>
          </p:cNvPr>
          <p:cNvSpPr>
            <a:spLocks noGrp="1"/>
          </p:cNvSpPr>
          <p:nvPr>
            <p:ph type="body" sz="quarter" idx="10"/>
          </p:nvPr>
        </p:nvSpPr>
        <p:spPr>
          <a:xfrm>
            <a:off x="304799" y="1310034"/>
            <a:ext cx="3902815" cy="3528811"/>
          </a:xfrm>
        </p:spPr>
        <p:txBody>
          <a:bodyPr>
            <a:normAutofit/>
          </a:bodyPr>
          <a:lstStyle/>
          <a:p>
            <a:pPr marL="0" indent="0">
              <a:spcAft>
                <a:spcPts val="1000"/>
              </a:spcAft>
              <a:buNone/>
            </a:pPr>
            <a:r>
              <a:rPr lang="en-US" altLang="ko-KR" sz="1600" dirty="0"/>
              <a:t>The engine has two cooling water circuits internally, which are low temperature (LT) system and high temperature (HT) system. Most of the elements of the circuits are modularized and directly mounted on the feed block.</a:t>
            </a:r>
          </a:p>
          <a:p>
            <a:pPr marL="0" indent="0">
              <a:spcAft>
                <a:spcPts val="1000"/>
              </a:spcAft>
              <a:buNone/>
            </a:pPr>
            <a:endParaRPr lang="en-US" altLang="ko-KR" sz="1600" dirty="0"/>
          </a:p>
          <a:p>
            <a:pPr marL="0" indent="0">
              <a:spcAft>
                <a:spcPts val="1000"/>
              </a:spcAft>
              <a:buNone/>
            </a:pPr>
            <a:r>
              <a:rPr lang="en-US" altLang="ko-KR" sz="1600" dirty="0"/>
              <a:t>The cooling water system is designed for using normal fresh water with corrosion inhibitor. Both the low and the high temperature system are cooled by fresh water. </a:t>
            </a:r>
            <a:endParaRPr lang="en-US" sz="1600" dirty="0">
              <a:solidFill>
                <a:srgbClr val="000000"/>
              </a:solidFill>
            </a:endParaRPr>
          </a:p>
          <a:p>
            <a:pPr marL="0" indent="0">
              <a:spcAft>
                <a:spcPts val="1000"/>
              </a:spcAft>
              <a:buNone/>
            </a:pPr>
            <a:endParaRPr lang="en-US" sz="1600" dirty="0">
              <a:solidFill>
                <a:srgbClr val="000000"/>
              </a:solidFill>
            </a:endParaRPr>
          </a:p>
          <a:p>
            <a:pPr marL="0" indent="0">
              <a:spcAft>
                <a:spcPts val="1000"/>
              </a:spcAft>
              <a:buNone/>
            </a:pPr>
            <a:endParaRPr lang="en-US" sz="1600" dirty="0">
              <a:solidFill>
                <a:srgbClr val="000000"/>
              </a:solidFill>
            </a:endParaRPr>
          </a:p>
        </p:txBody>
      </p:sp>
      <p:pic>
        <p:nvPicPr>
          <p:cNvPr id="5" name="그림 4">
            <a:extLst>
              <a:ext uri="{FF2B5EF4-FFF2-40B4-BE49-F238E27FC236}">
                <a16:creationId xmlns:a16="http://schemas.microsoft.com/office/drawing/2014/main" id="{DB49CC89-26EF-715D-E4AC-9AA6EC8E3CDD}"/>
              </a:ext>
            </a:extLst>
          </p:cNvPr>
          <p:cNvPicPr>
            <a:picLocks noChangeAspect="1"/>
          </p:cNvPicPr>
          <p:nvPr/>
        </p:nvPicPr>
        <p:blipFill>
          <a:blip r:embed="rId2"/>
          <a:stretch>
            <a:fillRect/>
          </a:stretch>
        </p:blipFill>
        <p:spPr>
          <a:xfrm>
            <a:off x="4207615" y="831138"/>
            <a:ext cx="4936385" cy="4312361"/>
          </a:xfrm>
          <a:prstGeom prst="rect">
            <a:avLst/>
          </a:prstGeom>
        </p:spPr>
      </p:pic>
    </p:spTree>
    <p:extLst>
      <p:ext uri="{BB962C8B-B14F-4D97-AF65-F5344CB8AC3E}">
        <p14:creationId xmlns:p14="http://schemas.microsoft.com/office/powerpoint/2010/main" val="2888321862"/>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C433-7749-695F-5BB1-1EB703DA1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CA78C-9F28-EE93-EA9E-9A33406B2DEA}"/>
              </a:ext>
            </a:extLst>
          </p:cNvPr>
          <p:cNvSpPr>
            <a:spLocks noGrp="1"/>
          </p:cNvSpPr>
          <p:nvPr>
            <p:ph type="title"/>
          </p:nvPr>
        </p:nvSpPr>
        <p:spPr>
          <a:xfrm>
            <a:off x="304799" y="304655"/>
            <a:ext cx="8392313" cy="535531"/>
          </a:xfrm>
        </p:spPr>
        <p:txBody>
          <a:bodyPr/>
          <a:lstStyle/>
          <a:p>
            <a:r>
              <a:rPr lang="nb-NO" altLang="ko-KR" dirty="0" err="1"/>
              <a:t>Cooling</a:t>
            </a:r>
            <a:r>
              <a:rPr lang="nb-NO" altLang="ko-KR" dirty="0"/>
              <a:t> water system (</a:t>
            </a:r>
            <a:r>
              <a:rPr lang="nb-NO" altLang="ko-KR" dirty="0" err="1"/>
              <a:t>HiMSEN</a:t>
            </a:r>
            <a:r>
              <a:rPr lang="nb-NO" altLang="ko-KR" dirty="0"/>
              <a:t>)</a:t>
            </a:r>
            <a:endParaRPr lang="en-US" dirty="0"/>
          </a:p>
        </p:txBody>
      </p:sp>
      <p:sp>
        <p:nvSpPr>
          <p:cNvPr id="3" name="Text Placeholder 2">
            <a:extLst>
              <a:ext uri="{FF2B5EF4-FFF2-40B4-BE49-F238E27FC236}">
                <a16:creationId xmlns:a16="http://schemas.microsoft.com/office/drawing/2014/main" id="{13DDB29D-9B17-1271-5531-B07B452EF671}"/>
              </a:ext>
            </a:extLst>
          </p:cNvPr>
          <p:cNvSpPr>
            <a:spLocks noGrp="1"/>
          </p:cNvSpPr>
          <p:nvPr>
            <p:ph type="body" sz="quarter" idx="10"/>
          </p:nvPr>
        </p:nvSpPr>
        <p:spPr>
          <a:xfrm>
            <a:off x="304799" y="1261909"/>
            <a:ext cx="3902815" cy="3660726"/>
          </a:xfrm>
        </p:spPr>
        <p:txBody>
          <a:bodyPr>
            <a:normAutofit/>
          </a:bodyPr>
          <a:lstStyle/>
          <a:p>
            <a:pPr marL="0" indent="0">
              <a:spcAft>
                <a:spcPts val="1000"/>
              </a:spcAft>
              <a:buNone/>
            </a:pPr>
            <a:r>
              <a:rPr lang="en-US" altLang="ko-KR" sz="1600" dirty="0"/>
              <a:t>The low temperature cooling water circulates by L.T pump and flows through charge air cooler and lubricating oil cooler internally. </a:t>
            </a:r>
          </a:p>
          <a:p>
            <a:pPr marL="0" indent="0">
              <a:spcAft>
                <a:spcPts val="1000"/>
              </a:spcAft>
              <a:buNone/>
            </a:pPr>
            <a:r>
              <a:rPr lang="en-US" altLang="ko-KR" sz="1600" dirty="0"/>
              <a:t>L.T.W thermostat valve controls the water temperature by exchanging water with external circuit as shown in fig. 1.</a:t>
            </a:r>
          </a:p>
          <a:p>
            <a:pPr marL="0" indent="0">
              <a:spcAft>
                <a:spcPts val="1000"/>
              </a:spcAft>
              <a:buNone/>
            </a:pPr>
            <a:r>
              <a:rPr lang="en-US" altLang="ko-KR" sz="1600" dirty="0"/>
              <a:t>The high temperature cooling water circulates by H.T pump internally and flows through cylinder head and water jacket (for cylinder liner) under normal operation. H.T.W thermostat valve controls the water temperature by exchanging water with external circuit. </a:t>
            </a:r>
            <a:endParaRPr lang="en-US" sz="1600" dirty="0">
              <a:solidFill>
                <a:srgbClr val="000000"/>
              </a:solidFill>
            </a:endParaRPr>
          </a:p>
          <a:p>
            <a:pPr marL="0" indent="0">
              <a:spcAft>
                <a:spcPts val="1000"/>
              </a:spcAft>
              <a:buNone/>
            </a:pPr>
            <a:endParaRPr lang="en-US" sz="1600" dirty="0">
              <a:solidFill>
                <a:srgbClr val="000000"/>
              </a:solidFill>
            </a:endParaRPr>
          </a:p>
        </p:txBody>
      </p:sp>
      <p:pic>
        <p:nvPicPr>
          <p:cNvPr id="5" name="그림 4">
            <a:extLst>
              <a:ext uri="{FF2B5EF4-FFF2-40B4-BE49-F238E27FC236}">
                <a16:creationId xmlns:a16="http://schemas.microsoft.com/office/drawing/2014/main" id="{CA8CAFC9-71CD-3390-D601-8D3270100CB1}"/>
              </a:ext>
            </a:extLst>
          </p:cNvPr>
          <p:cNvPicPr>
            <a:picLocks noChangeAspect="1"/>
          </p:cNvPicPr>
          <p:nvPr/>
        </p:nvPicPr>
        <p:blipFill>
          <a:blip r:embed="rId2"/>
          <a:stretch>
            <a:fillRect/>
          </a:stretch>
        </p:blipFill>
        <p:spPr>
          <a:xfrm>
            <a:off x="4207615" y="831138"/>
            <a:ext cx="4936385" cy="4312361"/>
          </a:xfrm>
          <a:prstGeom prst="rect">
            <a:avLst/>
          </a:prstGeom>
        </p:spPr>
      </p:pic>
      <p:sp>
        <p:nvSpPr>
          <p:cNvPr id="4" name="오른쪽 대괄호 3">
            <a:extLst>
              <a:ext uri="{FF2B5EF4-FFF2-40B4-BE49-F238E27FC236}">
                <a16:creationId xmlns:a16="http://schemas.microsoft.com/office/drawing/2014/main" id="{C8BA8DD6-C766-FCFF-FE50-2323FF0C8F8E}"/>
              </a:ext>
            </a:extLst>
          </p:cNvPr>
          <p:cNvSpPr/>
          <p:nvPr/>
        </p:nvSpPr>
        <p:spPr>
          <a:xfrm>
            <a:off x="4083861" y="1347536"/>
            <a:ext cx="96253" cy="1629420"/>
          </a:xfrm>
          <a:prstGeom prst="rightBracket">
            <a:avLst/>
          </a:prstGeom>
          <a:ln w="19050" cap="flat" cmpd="sng" algn="ctr">
            <a:solidFill>
              <a:srgbClr val="00B0F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6" name="오른쪽 대괄호 5">
            <a:extLst>
              <a:ext uri="{FF2B5EF4-FFF2-40B4-BE49-F238E27FC236}">
                <a16:creationId xmlns:a16="http://schemas.microsoft.com/office/drawing/2014/main" id="{CBE61462-EBFF-95CE-AAEA-7A358EDD851B}"/>
              </a:ext>
            </a:extLst>
          </p:cNvPr>
          <p:cNvSpPr/>
          <p:nvPr/>
        </p:nvSpPr>
        <p:spPr>
          <a:xfrm>
            <a:off x="4091881" y="3223175"/>
            <a:ext cx="88233" cy="1465703"/>
          </a:xfrm>
          <a:prstGeom prst="rightBracket">
            <a:avLst/>
          </a:prstGeom>
          <a:ln w="19050" cap="flat" cmpd="sng" algn="ctr">
            <a:solidFill>
              <a:schemeClr val="accent1">
                <a:lumMod val="60000"/>
                <a:lumOff val="4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3AFCFD67-2D7B-848A-6946-1CE7984C60F8}"/>
              </a:ext>
            </a:extLst>
          </p:cNvPr>
          <p:cNvSpPr txBox="1"/>
          <p:nvPr/>
        </p:nvSpPr>
        <p:spPr>
          <a:xfrm>
            <a:off x="5940604" y="2005080"/>
            <a:ext cx="735203" cy="369332"/>
          </a:xfrm>
          <a:prstGeom prst="rect">
            <a:avLst/>
          </a:prstGeom>
          <a:noFill/>
        </p:spPr>
        <p:txBody>
          <a:bodyPr wrap="square" rtlCol="0">
            <a:spAutoFit/>
          </a:bodyPr>
          <a:lstStyle/>
          <a:p>
            <a:pPr algn="ctr">
              <a:lnSpc>
                <a:spcPct val="90000"/>
              </a:lnSpc>
            </a:pPr>
            <a:r>
              <a:rPr lang="en-US" altLang="ko-KR" sz="1000" b="1" dirty="0">
                <a:latin typeface="Calibri" panose="020F0502020204030204" pitchFamily="34" charset="0"/>
              </a:rPr>
              <a:t>charge air cooler </a:t>
            </a:r>
            <a:endParaRPr lang="ko-KR" altLang="en-US" sz="1000" b="1" dirty="0">
              <a:latin typeface="Calibri" panose="020F0502020204030204" pitchFamily="34" charset="0"/>
            </a:endParaRPr>
          </a:p>
        </p:txBody>
      </p:sp>
    </p:spTree>
    <p:extLst>
      <p:ext uri="{BB962C8B-B14F-4D97-AF65-F5344CB8AC3E}">
        <p14:creationId xmlns:p14="http://schemas.microsoft.com/office/powerpoint/2010/main" val="3046195479"/>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421D6-846D-C707-906F-B073AA12E55E}"/>
            </a:ext>
          </a:extLst>
        </p:cNvPr>
        <p:cNvGrpSpPr/>
        <p:nvPr/>
      </p:nvGrpSpPr>
      <p:grpSpPr>
        <a:xfrm>
          <a:off x="0" y="0"/>
          <a:ext cx="0" cy="0"/>
          <a:chOff x="0" y="0"/>
          <a:chExt cx="0" cy="0"/>
        </a:xfrm>
      </p:grpSpPr>
      <p:pic>
        <p:nvPicPr>
          <p:cNvPr id="10" name="그림 9">
            <a:extLst>
              <a:ext uri="{FF2B5EF4-FFF2-40B4-BE49-F238E27FC236}">
                <a16:creationId xmlns:a16="http://schemas.microsoft.com/office/drawing/2014/main" id="{DFC7E9BA-5758-61BA-816C-16FDA6440DCC}"/>
              </a:ext>
            </a:extLst>
          </p:cNvPr>
          <p:cNvPicPr>
            <a:picLocks noChangeAspect="1"/>
          </p:cNvPicPr>
          <p:nvPr/>
        </p:nvPicPr>
        <p:blipFill>
          <a:blip r:embed="rId2"/>
          <a:stretch>
            <a:fillRect/>
          </a:stretch>
        </p:blipFill>
        <p:spPr>
          <a:xfrm>
            <a:off x="5810377" y="0"/>
            <a:ext cx="2693387" cy="5143500"/>
          </a:xfrm>
          <a:prstGeom prst="rect">
            <a:avLst/>
          </a:prstGeom>
        </p:spPr>
      </p:pic>
      <p:sp>
        <p:nvSpPr>
          <p:cNvPr id="11" name="Text Placeholder 2">
            <a:extLst>
              <a:ext uri="{FF2B5EF4-FFF2-40B4-BE49-F238E27FC236}">
                <a16:creationId xmlns:a16="http://schemas.microsoft.com/office/drawing/2014/main" id="{C64A9367-3A15-CAF6-0914-4B3D7C71F035}"/>
              </a:ext>
            </a:extLst>
          </p:cNvPr>
          <p:cNvSpPr txBox="1">
            <a:spLocks/>
          </p:cNvSpPr>
          <p:nvPr/>
        </p:nvSpPr>
        <p:spPr>
          <a:xfrm>
            <a:off x="5330819" y="290905"/>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12" name="Text Placeholder 2">
            <a:extLst>
              <a:ext uri="{FF2B5EF4-FFF2-40B4-BE49-F238E27FC236}">
                <a16:creationId xmlns:a16="http://schemas.microsoft.com/office/drawing/2014/main" id="{5DF9B887-88CD-F8FF-869E-8CEE183FD35F}"/>
              </a:ext>
            </a:extLst>
          </p:cNvPr>
          <p:cNvSpPr txBox="1">
            <a:spLocks/>
          </p:cNvSpPr>
          <p:nvPr/>
        </p:nvSpPr>
        <p:spPr>
          <a:xfrm>
            <a:off x="5330818" y="841504"/>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13" name="Text Placeholder 2">
            <a:extLst>
              <a:ext uri="{FF2B5EF4-FFF2-40B4-BE49-F238E27FC236}">
                <a16:creationId xmlns:a16="http://schemas.microsoft.com/office/drawing/2014/main" id="{95D8FE98-07D8-ED8B-EA53-85DC5B5A0803}"/>
              </a:ext>
            </a:extLst>
          </p:cNvPr>
          <p:cNvSpPr txBox="1">
            <a:spLocks/>
          </p:cNvSpPr>
          <p:nvPr/>
        </p:nvSpPr>
        <p:spPr>
          <a:xfrm>
            <a:off x="5330819" y="654252"/>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Sleeve</a:t>
            </a:r>
          </a:p>
        </p:txBody>
      </p:sp>
      <p:sp>
        <p:nvSpPr>
          <p:cNvPr id="14" name="Text Placeholder 2">
            <a:extLst>
              <a:ext uri="{FF2B5EF4-FFF2-40B4-BE49-F238E27FC236}">
                <a16:creationId xmlns:a16="http://schemas.microsoft.com/office/drawing/2014/main" id="{372E0BFB-4534-CFED-3762-C782795ADE7A}"/>
              </a:ext>
            </a:extLst>
          </p:cNvPr>
          <p:cNvSpPr txBox="1">
            <a:spLocks/>
          </p:cNvSpPr>
          <p:nvPr/>
        </p:nvSpPr>
        <p:spPr>
          <a:xfrm>
            <a:off x="4686328" y="1100967"/>
            <a:ext cx="121690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Water guide jacket</a:t>
            </a:r>
          </a:p>
        </p:txBody>
      </p:sp>
      <p:sp>
        <p:nvSpPr>
          <p:cNvPr id="15" name="Text Placeholder 2">
            <a:extLst>
              <a:ext uri="{FF2B5EF4-FFF2-40B4-BE49-F238E27FC236}">
                <a16:creationId xmlns:a16="http://schemas.microsoft.com/office/drawing/2014/main" id="{B4499808-4407-6C32-9CC8-170586F5D353}"/>
              </a:ext>
            </a:extLst>
          </p:cNvPr>
          <p:cNvSpPr txBox="1">
            <a:spLocks/>
          </p:cNvSpPr>
          <p:nvPr/>
        </p:nvSpPr>
        <p:spPr>
          <a:xfrm>
            <a:off x="5330817" y="1286710"/>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16" name="Text Placeholder 2">
            <a:extLst>
              <a:ext uri="{FF2B5EF4-FFF2-40B4-BE49-F238E27FC236}">
                <a16:creationId xmlns:a16="http://schemas.microsoft.com/office/drawing/2014/main" id="{3D03087A-9354-2987-BF3F-145FEC28A222}"/>
              </a:ext>
            </a:extLst>
          </p:cNvPr>
          <p:cNvSpPr txBox="1">
            <a:spLocks/>
          </p:cNvSpPr>
          <p:nvPr/>
        </p:nvSpPr>
        <p:spPr>
          <a:xfrm>
            <a:off x="5063997" y="1467774"/>
            <a:ext cx="83923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Sealing ring</a:t>
            </a:r>
          </a:p>
        </p:txBody>
      </p:sp>
      <p:sp>
        <p:nvSpPr>
          <p:cNvPr id="17" name="Text Placeholder 2">
            <a:extLst>
              <a:ext uri="{FF2B5EF4-FFF2-40B4-BE49-F238E27FC236}">
                <a16:creationId xmlns:a16="http://schemas.microsoft.com/office/drawing/2014/main" id="{23379383-3B4B-79CB-7C67-CBB467243184}"/>
              </a:ext>
            </a:extLst>
          </p:cNvPr>
          <p:cNvSpPr txBox="1">
            <a:spLocks/>
          </p:cNvSpPr>
          <p:nvPr/>
        </p:nvSpPr>
        <p:spPr>
          <a:xfrm>
            <a:off x="5063999" y="1646642"/>
            <a:ext cx="83923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 Plug screw</a:t>
            </a:r>
          </a:p>
        </p:txBody>
      </p:sp>
      <p:sp>
        <p:nvSpPr>
          <p:cNvPr id="18" name="Text Placeholder 2">
            <a:extLst>
              <a:ext uri="{FF2B5EF4-FFF2-40B4-BE49-F238E27FC236}">
                <a16:creationId xmlns:a16="http://schemas.microsoft.com/office/drawing/2014/main" id="{7D0D19F0-2056-1C62-B849-708C7B2133F4}"/>
              </a:ext>
            </a:extLst>
          </p:cNvPr>
          <p:cNvSpPr txBox="1">
            <a:spLocks/>
          </p:cNvSpPr>
          <p:nvPr/>
        </p:nvSpPr>
        <p:spPr>
          <a:xfrm>
            <a:off x="5323088" y="1829387"/>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19" name="Text Placeholder 2">
            <a:extLst>
              <a:ext uri="{FF2B5EF4-FFF2-40B4-BE49-F238E27FC236}">
                <a16:creationId xmlns:a16="http://schemas.microsoft.com/office/drawing/2014/main" id="{778CFB1B-EF8C-8431-5D13-51C85EF90C7C}"/>
              </a:ext>
            </a:extLst>
          </p:cNvPr>
          <p:cNvSpPr txBox="1">
            <a:spLocks/>
          </p:cNvSpPr>
          <p:nvPr/>
        </p:nvSpPr>
        <p:spPr>
          <a:xfrm>
            <a:off x="5044216" y="2006574"/>
            <a:ext cx="83923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Sealing ring</a:t>
            </a:r>
          </a:p>
        </p:txBody>
      </p:sp>
      <p:sp>
        <p:nvSpPr>
          <p:cNvPr id="20" name="Text Placeholder 2">
            <a:extLst>
              <a:ext uri="{FF2B5EF4-FFF2-40B4-BE49-F238E27FC236}">
                <a16:creationId xmlns:a16="http://schemas.microsoft.com/office/drawing/2014/main" id="{32D462AA-F63A-EAEE-69DB-6A65028D129A}"/>
              </a:ext>
            </a:extLst>
          </p:cNvPr>
          <p:cNvSpPr txBox="1">
            <a:spLocks/>
          </p:cNvSpPr>
          <p:nvPr/>
        </p:nvSpPr>
        <p:spPr>
          <a:xfrm>
            <a:off x="4242411" y="2185442"/>
            <a:ext cx="1656920"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 Cooling water connection</a:t>
            </a:r>
          </a:p>
        </p:txBody>
      </p:sp>
      <p:sp>
        <p:nvSpPr>
          <p:cNvPr id="21" name="Text Placeholder 2">
            <a:extLst>
              <a:ext uri="{FF2B5EF4-FFF2-40B4-BE49-F238E27FC236}">
                <a16:creationId xmlns:a16="http://schemas.microsoft.com/office/drawing/2014/main" id="{E67EC497-26FC-D487-6127-A0DEC834920D}"/>
              </a:ext>
            </a:extLst>
          </p:cNvPr>
          <p:cNvSpPr txBox="1">
            <a:spLocks/>
          </p:cNvSpPr>
          <p:nvPr/>
        </p:nvSpPr>
        <p:spPr>
          <a:xfrm>
            <a:off x="5315407" y="2371185"/>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22" name="Text Placeholder 2">
            <a:extLst>
              <a:ext uri="{FF2B5EF4-FFF2-40B4-BE49-F238E27FC236}">
                <a16:creationId xmlns:a16="http://schemas.microsoft.com/office/drawing/2014/main" id="{115B74E7-1BE8-50DD-54E6-D17E03D4137C}"/>
              </a:ext>
            </a:extLst>
          </p:cNvPr>
          <p:cNvSpPr txBox="1">
            <a:spLocks/>
          </p:cNvSpPr>
          <p:nvPr/>
        </p:nvSpPr>
        <p:spPr>
          <a:xfrm>
            <a:off x="5034837" y="2536899"/>
            <a:ext cx="83923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Sealing ring</a:t>
            </a:r>
          </a:p>
        </p:txBody>
      </p:sp>
      <p:sp>
        <p:nvSpPr>
          <p:cNvPr id="23" name="Text Placeholder 2">
            <a:extLst>
              <a:ext uri="{FF2B5EF4-FFF2-40B4-BE49-F238E27FC236}">
                <a16:creationId xmlns:a16="http://schemas.microsoft.com/office/drawing/2014/main" id="{4C3F453B-6C9F-51DE-9006-484F4019B7D2}"/>
              </a:ext>
            </a:extLst>
          </p:cNvPr>
          <p:cNvSpPr txBox="1">
            <a:spLocks/>
          </p:cNvSpPr>
          <p:nvPr/>
        </p:nvSpPr>
        <p:spPr>
          <a:xfrm>
            <a:off x="4957009" y="2758864"/>
            <a:ext cx="930817"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Cylinder liner</a:t>
            </a:r>
          </a:p>
        </p:txBody>
      </p:sp>
      <p:sp>
        <p:nvSpPr>
          <p:cNvPr id="24" name="Text Placeholder 2">
            <a:extLst>
              <a:ext uri="{FF2B5EF4-FFF2-40B4-BE49-F238E27FC236}">
                <a16:creationId xmlns:a16="http://schemas.microsoft.com/office/drawing/2014/main" id="{ABBA7B70-7C6C-3B30-844C-A870440D5A14}"/>
              </a:ext>
            </a:extLst>
          </p:cNvPr>
          <p:cNvSpPr txBox="1">
            <a:spLocks/>
          </p:cNvSpPr>
          <p:nvPr/>
        </p:nvSpPr>
        <p:spPr>
          <a:xfrm>
            <a:off x="5311036" y="4408653"/>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25" name="Text Placeholder 2">
            <a:extLst>
              <a:ext uri="{FF2B5EF4-FFF2-40B4-BE49-F238E27FC236}">
                <a16:creationId xmlns:a16="http://schemas.microsoft.com/office/drawing/2014/main" id="{8A1F5A41-EC99-C1DD-BC13-66EDEA739406}"/>
              </a:ext>
            </a:extLst>
          </p:cNvPr>
          <p:cNvSpPr txBox="1">
            <a:spLocks/>
          </p:cNvSpPr>
          <p:nvPr/>
        </p:nvSpPr>
        <p:spPr>
          <a:xfrm>
            <a:off x="8275761" y="2371184"/>
            <a:ext cx="764223"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Flame ring</a:t>
            </a:r>
          </a:p>
        </p:txBody>
      </p:sp>
      <p:sp>
        <p:nvSpPr>
          <p:cNvPr id="26" name="Text Placeholder 2">
            <a:extLst>
              <a:ext uri="{FF2B5EF4-FFF2-40B4-BE49-F238E27FC236}">
                <a16:creationId xmlns:a16="http://schemas.microsoft.com/office/drawing/2014/main" id="{FC3F829A-C8EC-E6D3-36A6-BF48D74AAB1A}"/>
              </a:ext>
            </a:extLst>
          </p:cNvPr>
          <p:cNvSpPr txBox="1">
            <a:spLocks/>
          </p:cNvSpPr>
          <p:nvPr/>
        </p:nvSpPr>
        <p:spPr>
          <a:xfrm>
            <a:off x="7920216" y="1646642"/>
            <a:ext cx="121690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Water guide jacket</a:t>
            </a:r>
          </a:p>
        </p:txBody>
      </p:sp>
      <p:sp>
        <p:nvSpPr>
          <p:cNvPr id="27" name="Text Placeholder 2">
            <a:extLst>
              <a:ext uri="{FF2B5EF4-FFF2-40B4-BE49-F238E27FC236}">
                <a16:creationId xmlns:a16="http://schemas.microsoft.com/office/drawing/2014/main" id="{2971BA69-7366-7DED-5867-3820726FDDDF}"/>
              </a:ext>
            </a:extLst>
          </p:cNvPr>
          <p:cNvSpPr txBox="1">
            <a:spLocks/>
          </p:cNvSpPr>
          <p:nvPr/>
        </p:nvSpPr>
        <p:spPr>
          <a:xfrm>
            <a:off x="6870860" y="389938"/>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Sleeve</a:t>
            </a:r>
          </a:p>
        </p:txBody>
      </p:sp>
      <p:sp>
        <p:nvSpPr>
          <p:cNvPr id="28" name="Text Placeholder 2">
            <a:extLst>
              <a:ext uri="{FF2B5EF4-FFF2-40B4-BE49-F238E27FC236}">
                <a16:creationId xmlns:a16="http://schemas.microsoft.com/office/drawing/2014/main" id="{1E907731-DEF1-6A34-9568-91C12DECF7F8}"/>
              </a:ext>
            </a:extLst>
          </p:cNvPr>
          <p:cNvSpPr txBox="1">
            <a:spLocks/>
          </p:cNvSpPr>
          <p:nvPr/>
        </p:nvSpPr>
        <p:spPr>
          <a:xfrm>
            <a:off x="6821632" y="203463"/>
            <a:ext cx="621647"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Washer</a:t>
            </a:r>
          </a:p>
        </p:txBody>
      </p:sp>
      <p:sp>
        <p:nvSpPr>
          <p:cNvPr id="29" name="Text Placeholder 2">
            <a:extLst>
              <a:ext uri="{FF2B5EF4-FFF2-40B4-BE49-F238E27FC236}">
                <a16:creationId xmlns:a16="http://schemas.microsoft.com/office/drawing/2014/main" id="{CB992F17-841C-1A55-96CB-3984768E4C03}"/>
              </a:ext>
            </a:extLst>
          </p:cNvPr>
          <p:cNvSpPr txBox="1">
            <a:spLocks/>
          </p:cNvSpPr>
          <p:nvPr/>
        </p:nvSpPr>
        <p:spPr>
          <a:xfrm>
            <a:off x="6756606" y="-35471"/>
            <a:ext cx="739391" cy="337975"/>
          </a:xfrm>
          <a:prstGeom prst="rect">
            <a:avLst/>
          </a:prstGeom>
        </p:spPr>
        <p:txBody>
          <a:bodyPr vert="horz" lIns="91440" tIns="45720" rIns="91440" bIns="45720" rtlCol="0">
            <a:normAutofit fontScale="92500" lnSpcReduction="10000"/>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 Hexagon screw</a:t>
            </a:r>
          </a:p>
        </p:txBody>
      </p:sp>
      <p:cxnSp>
        <p:nvCxnSpPr>
          <p:cNvPr id="30" name="직선 연결선 29">
            <a:extLst>
              <a:ext uri="{FF2B5EF4-FFF2-40B4-BE49-F238E27FC236}">
                <a16:creationId xmlns:a16="http://schemas.microsoft.com/office/drawing/2014/main" id="{A3FA12ED-A0B9-1889-2468-37467377C160}"/>
              </a:ext>
            </a:extLst>
          </p:cNvPr>
          <p:cNvCxnSpPr>
            <a:cxnSpLocks/>
          </p:cNvCxnSpPr>
          <p:nvPr/>
        </p:nvCxnSpPr>
        <p:spPr>
          <a:xfrm>
            <a:off x="4399100" y="2391810"/>
            <a:ext cx="1390652"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3087717"/>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7D41F-7407-5FF1-FB92-7B004CE8A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C7EE9-2F1A-A363-6FAF-FE3F5018467D}"/>
              </a:ext>
            </a:extLst>
          </p:cNvPr>
          <p:cNvSpPr>
            <a:spLocks noGrp="1"/>
          </p:cNvSpPr>
          <p:nvPr>
            <p:ph type="title"/>
          </p:nvPr>
        </p:nvSpPr>
        <p:spPr>
          <a:xfrm>
            <a:off x="304799" y="304655"/>
            <a:ext cx="8392313" cy="535531"/>
          </a:xfrm>
        </p:spPr>
        <p:txBody>
          <a:bodyPr/>
          <a:lstStyle/>
          <a:p>
            <a:r>
              <a:rPr lang="nb-NO" altLang="ko-KR" dirty="0" err="1"/>
              <a:t>Cooling</a:t>
            </a:r>
            <a:r>
              <a:rPr lang="nb-NO" altLang="ko-KR" dirty="0"/>
              <a:t> water system (</a:t>
            </a:r>
            <a:r>
              <a:rPr lang="nb-NO" altLang="ko-KR" dirty="0" err="1"/>
              <a:t>HiMSEN</a:t>
            </a:r>
            <a:r>
              <a:rPr lang="nb-NO" altLang="ko-KR" dirty="0"/>
              <a:t>)</a:t>
            </a:r>
            <a:endParaRPr lang="en-US" dirty="0"/>
          </a:p>
        </p:txBody>
      </p:sp>
      <p:sp>
        <p:nvSpPr>
          <p:cNvPr id="3" name="Text Placeholder 2">
            <a:extLst>
              <a:ext uri="{FF2B5EF4-FFF2-40B4-BE49-F238E27FC236}">
                <a16:creationId xmlns:a16="http://schemas.microsoft.com/office/drawing/2014/main" id="{D022AE7B-59F8-CCBF-C9F0-C53270B5BABE}"/>
              </a:ext>
            </a:extLst>
          </p:cNvPr>
          <p:cNvSpPr>
            <a:spLocks noGrp="1"/>
          </p:cNvSpPr>
          <p:nvPr>
            <p:ph type="body" sz="quarter" idx="10"/>
          </p:nvPr>
        </p:nvSpPr>
        <p:spPr>
          <a:xfrm>
            <a:off x="304799" y="1443789"/>
            <a:ext cx="3902815" cy="3478846"/>
          </a:xfrm>
        </p:spPr>
        <p:txBody>
          <a:bodyPr>
            <a:normAutofit/>
          </a:bodyPr>
          <a:lstStyle/>
          <a:p>
            <a:pPr marL="0" indent="0">
              <a:spcAft>
                <a:spcPts val="1000"/>
              </a:spcAft>
              <a:buNone/>
            </a:pPr>
            <a:r>
              <a:rPr lang="en-US" altLang="ko-KR" sz="1600" dirty="0"/>
              <a:t>The two cooling water pumps are of a centrifugal type and are driven by the gear wheel at the free end of the engine. </a:t>
            </a:r>
          </a:p>
          <a:p>
            <a:pPr marL="0" indent="0">
              <a:spcAft>
                <a:spcPts val="1000"/>
              </a:spcAft>
              <a:buNone/>
            </a:pPr>
            <a:r>
              <a:rPr lang="en-US" altLang="ko-KR" sz="1600" dirty="0"/>
              <a:t>These two pumps are identical, but one is for circulating high temperature cooling water and the other is for low temperature cooling water. </a:t>
            </a:r>
          </a:p>
          <a:p>
            <a:pPr marL="0" indent="0">
              <a:spcAft>
                <a:spcPts val="1000"/>
              </a:spcAft>
              <a:buNone/>
            </a:pPr>
            <a:r>
              <a:rPr lang="en-US" altLang="ko-KR" sz="1600" dirty="0"/>
              <a:t>Sealing rings are provided to avoid leakage between water side and oil side in the pump housing.</a:t>
            </a:r>
            <a:endParaRPr lang="en-US" sz="1600" dirty="0">
              <a:solidFill>
                <a:srgbClr val="000000"/>
              </a:solidFill>
            </a:endParaRPr>
          </a:p>
        </p:txBody>
      </p:sp>
      <p:pic>
        <p:nvPicPr>
          <p:cNvPr id="9" name="그림 8">
            <a:extLst>
              <a:ext uri="{FF2B5EF4-FFF2-40B4-BE49-F238E27FC236}">
                <a16:creationId xmlns:a16="http://schemas.microsoft.com/office/drawing/2014/main" id="{06EF80BB-59F0-A7B5-5C57-AFDE4E7B1A7B}"/>
              </a:ext>
            </a:extLst>
          </p:cNvPr>
          <p:cNvPicPr>
            <a:picLocks noChangeAspect="1"/>
          </p:cNvPicPr>
          <p:nvPr/>
        </p:nvPicPr>
        <p:blipFill>
          <a:blip r:embed="rId2"/>
          <a:stretch>
            <a:fillRect/>
          </a:stretch>
        </p:blipFill>
        <p:spPr>
          <a:xfrm>
            <a:off x="4290116" y="1120655"/>
            <a:ext cx="4853884" cy="3411178"/>
          </a:xfrm>
          <a:prstGeom prst="rect">
            <a:avLst/>
          </a:prstGeom>
        </p:spPr>
      </p:pic>
    </p:spTree>
    <p:extLst>
      <p:ext uri="{BB962C8B-B14F-4D97-AF65-F5344CB8AC3E}">
        <p14:creationId xmlns:p14="http://schemas.microsoft.com/office/powerpoint/2010/main" val="492301170"/>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9276D-8637-3A09-F416-233E21F6A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4AB455-8F5F-17C2-855A-AE2E1D2634B7}"/>
              </a:ext>
            </a:extLst>
          </p:cNvPr>
          <p:cNvSpPr>
            <a:spLocks noGrp="1"/>
          </p:cNvSpPr>
          <p:nvPr>
            <p:ph type="title"/>
          </p:nvPr>
        </p:nvSpPr>
        <p:spPr>
          <a:xfrm>
            <a:off x="304799" y="304655"/>
            <a:ext cx="8392313" cy="535531"/>
          </a:xfrm>
        </p:spPr>
        <p:txBody>
          <a:bodyPr/>
          <a:lstStyle/>
          <a:p>
            <a:r>
              <a:rPr lang="nb-NO" altLang="ko-KR" dirty="0" err="1"/>
              <a:t>Cooling</a:t>
            </a:r>
            <a:r>
              <a:rPr lang="nb-NO" altLang="ko-KR" dirty="0"/>
              <a:t> water system (</a:t>
            </a:r>
            <a:r>
              <a:rPr lang="nb-NO" altLang="ko-KR" dirty="0" err="1"/>
              <a:t>HiMSEN</a:t>
            </a:r>
            <a:r>
              <a:rPr lang="nb-NO" altLang="ko-KR" dirty="0"/>
              <a:t>)</a:t>
            </a:r>
            <a:endParaRPr lang="en-US" dirty="0"/>
          </a:p>
        </p:txBody>
      </p:sp>
      <p:sp>
        <p:nvSpPr>
          <p:cNvPr id="3" name="Text Placeholder 2">
            <a:extLst>
              <a:ext uri="{FF2B5EF4-FFF2-40B4-BE49-F238E27FC236}">
                <a16:creationId xmlns:a16="http://schemas.microsoft.com/office/drawing/2014/main" id="{0CBF42F0-63BD-5C84-3273-3854F2367B1B}"/>
              </a:ext>
            </a:extLst>
          </p:cNvPr>
          <p:cNvSpPr>
            <a:spLocks noGrp="1"/>
          </p:cNvSpPr>
          <p:nvPr>
            <p:ph type="body" sz="quarter" idx="10"/>
          </p:nvPr>
        </p:nvSpPr>
        <p:spPr>
          <a:xfrm>
            <a:off x="357769" y="921274"/>
            <a:ext cx="5554894" cy="3850106"/>
          </a:xfrm>
        </p:spPr>
        <p:txBody>
          <a:bodyPr>
            <a:normAutofit/>
          </a:bodyPr>
          <a:lstStyle/>
          <a:p>
            <a:pPr marL="0" indent="0">
              <a:spcAft>
                <a:spcPts val="1000"/>
              </a:spcAft>
              <a:buNone/>
            </a:pPr>
            <a:r>
              <a:rPr lang="en-US" altLang="ko-KR" sz="1600" dirty="0"/>
              <a:t>The two thermostat valves for HT and LT water circuits respectively are mounted on the feed block of the engine. </a:t>
            </a:r>
          </a:p>
          <a:p>
            <a:pPr marL="0" indent="0">
              <a:spcAft>
                <a:spcPts val="1000"/>
              </a:spcAft>
              <a:buNone/>
            </a:pPr>
            <a:r>
              <a:rPr lang="en-US" altLang="ko-KR" sz="1600" dirty="0"/>
              <a:t>They are of the wax element type and cannot be adjusted. The thermostat valve controls the flow direction of the cooling water depending on the water temperature in the engine block appropriately as shown in fig. 3. </a:t>
            </a:r>
            <a:endParaRPr lang="en-US" sz="1600" dirty="0">
              <a:solidFill>
                <a:srgbClr val="000000"/>
              </a:solidFill>
            </a:endParaRPr>
          </a:p>
        </p:txBody>
      </p:sp>
      <p:pic>
        <p:nvPicPr>
          <p:cNvPr id="5" name="그림 4">
            <a:extLst>
              <a:ext uri="{FF2B5EF4-FFF2-40B4-BE49-F238E27FC236}">
                <a16:creationId xmlns:a16="http://schemas.microsoft.com/office/drawing/2014/main" id="{138BE77D-52F6-8246-39B8-E1AB881DCCEE}"/>
              </a:ext>
            </a:extLst>
          </p:cNvPr>
          <p:cNvPicPr>
            <a:picLocks noChangeAspect="1"/>
          </p:cNvPicPr>
          <p:nvPr/>
        </p:nvPicPr>
        <p:blipFill>
          <a:blip r:embed="rId2"/>
          <a:stretch>
            <a:fillRect/>
          </a:stretch>
        </p:blipFill>
        <p:spPr>
          <a:xfrm>
            <a:off x="508764" y="2538857"/>
            <a:ext cx="5465776" cy="2604643"/>
          </a:xfrm>
          <a:prstGeom prst="rect">
            <a:avLst/>
          </a:prstGeom>
        </p:spPr>
      </p:pic>
      <p:pic>
        <p:nvPicPr>
          <p:cNvPr id="2050" name="Picture 2" descr="Temperature Control Valves (TCV) | ThermOmegaTech®">
            <a:extLst>
              <a:ext uri="{FF2B5EF4-FFF2-40B4-BE49-F238E27FC236}">
                <a16:creationId xmlns:a16="http://schemas.microsoft.com/office/drawing/2014/main" id="{B5274519-45F9-DC13-8044-6C7185F2C8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4249" y="199834"/>
            <a:ext cx="2324952" cy="184305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ax thermostatic element - Wikiwand">
            <a:extLst>
              <a:ext uri="{FF2B5EF4-FFF2-40B4-BE49-F238E27FC236}">
                <a16:creationId xmlns:a16="http://schemas.microsoft.com/office/drawing/2014/main" id="{45CC5639-AD91-6772-10E3-DF40B6AB4E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1210" y="2346585"/>
            <a:ext cx="3022220" cy="2266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4043444"/>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01FE8-FA4A-D015-EAFE-A8DB4F446946}"/>
            </a:ext>
          </a:extLst>
        </p:cNvPr>
        <p:cNvGrpSpPr/>
        <p:nvPr/>
      </p:nvGrpSpPr>
      <p:grpSpPr>
        <a:xfrm>
          <a:off x="0" y="0"/>
          <a:ext cx="0" cy="0"/>
          <a:chOff x="0" y="0"/>
          <a:chExt cx="0" cy="0"/>
        </a:xfrm>
      </p:grpSpPr>
      <p:pic>
        <p:nvPicPr>
          <p:cNvPr id="10" name="그림 9">
            <a:extLst>
              <a:ext uri="{FF2B5EF4-FFF2-40B4-BE49-F238E27FC236}">
                <a16:creationId xmlns:a16="http://schemas.microsoft.com/office/drawing/2014/main" id="{7E46A102-0E31-4EA7-9924-94CF0486386D}"/>
              </a:ext>
            </a:extLst>
          </p:cNvPr>
          <p:cNvPicPr>
            <a:picLocks noChangeAspect="1"/>
          </p:cNvPicPr>
          <p:nvPr/>
        </p:nvPicPr>
        <p:blipFill>
          <a:blip r:embed="rId2"/>
          <a:stretch>
            <a:fillRect/>
          </a:stretch>
        </p:blipFill>
        <p:spPr>
          <a:xfrm>
            <a:off x="916337" y="0"/>
            <a:ext cx="4795007" cy="5143500"/>
          </a:xfrm>
          <a:prstGeom prst="rect">
            <a:avLst/>
          </a:prstGeom>
        </p:spPr>
      </p:pic>
      <p:pic>
        <p:nvPicPr>
          <p:cNvPr id="12" name="그림 11">
            <a:extLst>
              <a:ext uri="{FF2B5EF4-FFF2-40B4-BE49-F238E27FC236}">
                <a16:creationId xmlns:a16="http://schemas.microsoft.com/office/drawing/2014/main" id="{03669EE9-C474-ED6A-8ABB-001014D19CE5}"/>
              </a:ext>
            </a:extLst>
          </p:cNvPr>
          <p:cNvPicPr>
            <a:picLocks noChangeAspect="1"/>
          </p:cNvPicPr>
          <p:nvPr/>
        </p:nvPicPr>
        <p:blipFill>
          <a:blip r:embed="rId3"/>
          <a:stretch>
            <a:fillRect/>
          </a:stretch>
        </p:blipFill>
        <p:spPr>
          <a:xfrm>
            <a:off x="6362296" y="0"/>
            <a:ext cx="2483323" cy="5143500"/>
          </a:xfrm>
          <a:prstGeom prst="rect">
            <a:avLst/>
          </a:prstGeom>
        </p:spPr>
      </p:pic>
    </p:spTree>
    <p:extLst>
      <p:ext uri="{BB962C8B-B14F-4D97-AF65-F5344CB8AC3E}">
        <p14:creationId xmlns:p14="http://schemas.microsoft.com/office/powerpoint/2010/main" val="3529361360"/>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297A-6B36-33B2-B40F-60395F0E9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D7E33-465B-54D3-C37E-C9A9F05A31DA}"/>
              </a:ext>
            </a:extLst>
          </p:cNvPr>
          <p:cNvSpPr>
            <a:spLocks noGrp="1"/>
          </p:cNvSpPr>
          <p:nvPr>
            <p:ph type="title"/>
          </p:nvPr>
        </p:nvSpPr>
        <p:spPr>
          <a:xfrm>
            <a:off x="304799" y="304655"/>
            <a:ext cx="8392313" cy="535531"/>
          </a:xfrm>
        </p:spPr>
        <p:txBody>
          <a:bodyPr/>
          <a:lstStyle/>
          <a:p>
            <a:r>
              <a:rPr lang="nb-NO" altLang="ko-KR" dirty="0" err="1"/>
              <a:t>Cooling</a:t>
            </a:r>
            <a:r>
              <a:rPr lang="nb-NO" altLang="ko-KR" dirty="0"/>
              <a:t> water system (</a:t>
            </a:r>
            <a:r>
              <a:rPr lang="nb-NO" altLang="ko-KR" dirty="0" err="1"/>
              <a:t>HiMSEN</a:t>
            </a:r>
            <a:r>
              <a:rPr lang="nb-NO" altLang="ko-KR" dirty="0"/>
              <a:t>)</a:t>
            </a:r>
            <a:endParaRPr lang="en-US" dirty="0"/>
          </a:p>
        </p:txBody>
      </p:sp>
      <p:pic>
        <p:nvPicPr>
          <p:cNvPr id="7" name="온라인 미디어 6" title="Diesel Generator HT CW Pump Overhaul, Dismantling and mounting of HT CW Pump. #dg HT Pump">
            <a:hlinkClick r:id="" action="ppaction://media"/>
            <a:extLst>
              <a:ext uri="{FF2B5EF4-FFF2-40B4-BE49-F238E27FC236}">
                <a16:creationId xmlns:a16="http://schemas.microsoft.com/office/drawing/2014/main" id="{B373A6F0-C76C-C8D2-C8FB-A2C5B832E2EE}"/>
              </a:ext>
            </a:extLst>
          </p:cNvPr>
          <p:cNvPicPr>
            <a:picLocks noRot="1" noChangeAspect="1"/>
          </p:cNvPicPr>
          <p:nvPr>
            <a:videoFile r:link="rId1"/>
          </p:nvPr>
        </p:nvPicPr>
        <p:blipFill>
          <a:blip r:embed="rId3"/>
          <a:stretch>
            <a:fillRect/>
          </a:stretch>
        </p:blipFill>
        <p:spPr>
          <a:xfrm>
            <a:off x="426262" y="943982"/>
            <a:ext cx="6565805" cy="3709364"/>
          </a:xfrm>
          <a:prstGeom prst="rect">
            <a:avLst/>
          </a:prstGeom>
        </p:spPr>
      </p:pic>
    </p:spTree>
    <p:extLst>
      <p:ext uri="{BB962C8B-B14F-4D97-AF65-F5344CB8AC3E}">
        <p14:creationId xmlns:p14="http://schemas.microsoft.com/office/powerpoint/2010/main" val="126543837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C17D9-47DD-F631-FF66-5A3517AFF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5692F-F9AA-D413-3297-A9CB69B9578B}"/>
              </a:ext>
            </a:extLst>
          </p:cNvPr>
          <p:cNvSpPr>
            <a:spLocks noGrp="1"/>
          </p:cNvSpPr>
          <p:nvPr>
            <p:ph type="title"/>
          </p:nvPr>
        </p:nvSpPr>
        <p:spPr>
          <a:xfrm>
            <a:off x="304799" y="304655"/>
            <a:ext cx="8392313" cy="535531"/>
          </a:xfrm>
        </p:spPr>
        <p:txBody>
          <a:bodyPr/>
          <a:lstStyle/>
          <a:p>
            <a:r>
              <a:rPr lang="nb-NO" altLang="ko-KR" dirty="0" err="1"/>
              <a:t>Cooling</a:t>
            </a:r>
            <a:r>
              <a:rPr lang="nb-NO" altLang="ko-KR" dirty="0"/>
              <a:t> water system (</a:t>
            </a:r>
            <a:r>
              <a:rPr lang="nb-NO" altLang="ko-KR" dirty="0" err="1"/>
              <a:t>HiMSEN</a:t>
            </a:r>
            <a:r>
              <a:rPr lang="nb-NO" altLang="ko-KR" dirty="0"/>
              <a:t>)</a:t>
            </a:r>
            <a:endParaRPr lang="en-US" dirty="0"/>
          </a:p>
        </p:txBody>
      </p:sp>
      <p:pic>
        <p:nvPicPr>
          <p:cNvPr id="4" name="그림 3">
            <a:extLst>
              <a:ext uri="{FF2B5EF4-FFF2-40B4-BE49-F238E27FC236}">
                <a16:creationId xmlns:a16="http://schemas.microsoft.com/office/drawing/2014/main" id="{940677F1-FC12-2FE5-FD04-912A5383215B}"/>
              </a:ext>
            </a:extLst>
          </p:cNvPr>
          <p:cNvPicPr>
            <a:picLocks noChangeAspect="1"/>
          </p:cNvPicPr>
          <p:nvPr/>
        </p:nvPicPr>
        <p:blipFill>
          <a:blip r:embed="rId2"/>
          <a:stretch>
            <a:fillRect/>
          </a:stretch>
        </p:blipFill>
        <p:spPr>
          <a:xfrm>
            <a:off x="446887" y="945835"/>
            <a:ext cx="6847687" cy="3630965"/>
          </a:xfrm>
          <a:prstGeom prst="rect">
            <a:avLst/>
          </a:prstGeom>
        </p:spPr>
      </p:pic>
      <p:pic>
        <p:nvPicPr>
          <p:cNvPr id="8" name="그림 7">
            <a:extLst>
              <a:ext uri="{FF2B5EF4-FFF2-40B4-BE49-F238E27FC236}">
                <a16:creationId xmlns:a16="http://schemas.microsoft.com/office/drawing/2014/main" id="{CB687AA3-3BF3-C72C-42DD-509D06797E78}"/>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58D0DBC3-2315-878A-5E94-C018499C1A62}"/>
              </a:ext>
            </a:extLst>
          </p:cNvPr>
          <p:cNvPicPr>
            <a:picLocks noChangeAspect="1"/>
          </p:cNvPicPr>
          <p:nvPr/>
        </p:nvPicPr>
        <p:blipFill>
          <a:blip r:embed="rId3"/>
          <a:stretch>
            <a:fillRect/>
          </a:stretch>
        </p:blipFill>
        <p:spPr>
          <a:xfrm>
            <a:off x="6380648" y="1518542"/>
            <a:ext cx="777568" cy="225506"/>
          </a:xfrm>
          <a:prstGeom prst="rect">
            <a:avLst/>
          </a:prstGeom>
        </p:spPr>
      </p:pic>
      <p:sp>
        <p:nvSpPr>
          <p:cNvPr id="5" name="Text Placeholder 2">
            <a:extLst>
              <a:ext uri="{FF2B5EF4-FFF2-40B4-BE49-F238E27FC236}">
                <a16:creationId xmlns:a16="http://schemas.microsoft.com/office/drawing/2014/main" id="{46775607-6DE1-3DAD-A6F2-9D47B2979E0C}"/>
              </a:ext>
            </a:extLst>
          </p:cNvPr>
          <p:cNvSpPr txBox="1">
            <a:spLocks/>
          </p:cNvSpPr>
          <p:nvPr/>
        </p:nvSpPr>
        <p:spPr>
          <a:xfrm>
            <a:off x="6394396" y="3748716"/>
            <a:ext cx="1216909" cy="5355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Cooling water inlet pipe assembly</a:t>
            </a:r>
          </a:p>
        </p:txBody>
      </p:sp>
      <p:sp>
        <p:nvSpPr>
          <p:cNvPr id="10" name="Text Placeholder 2">
            <a:extLst>
              <a:ext uri="{FF2B5EF4-FFF2-40B4-BE49-F238E27FC236}">
                <a16:creationId xmlns:a16="http://schemas.microsoft.com/office/drawing/2014/main" id="{9D12139C-39C4-FFEE-C065-B66158B89990}"/>
              </a:ext>
            </a:extLst>
          </p:cNvPr>
          <p:cNvSpPr txBox="1">
            <a:spLocks/>
          </p:cNvSpPr>
          <p:nvPr/>
        </p:nvSpPr>
        <p:spPr>
          <a:xfrm>
            <a:off x="6236030" y="1208248"/>
            <a:ext cx="1216909" cy="5355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Cooling water outlet pipe assembly</a:t>
            </a:r>
          </a:p>
        </p:txBody>
      </p:sp>
    </p:spTree>
    <p:extLst>
      <p:ext uri="{BB962C8B-B14F-4D97-AF65-F5344CB8AC3E}">
        <p14:creationId xmlns:p14="http://schemas.microsoft.com/office/powerpoint/2010/main" val="2819480895"/>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51C5A-78EF-E7BA-FA7A-66D27C290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FB048-D604-0E2D-DA4B-BC059BA71DB8}"/>
              </a:ext>
            </a:extLst>
          </p:cNvPr>
          <p:cNvSpPr>
            <a:spLocks noGrp="1"/>
          </p:cNvSpPr>
          <p:nvPr>
            <p:ph type="title"/>
          </p:nvPr>
        </p:nvSpPr>
        <p:spPr>
          <a:xfrm>
            <a:off x="304799" y="304655"/>
            <a:ext cx="8392313" cy="535531"/>
          </a:xfrm>
        </p:spPr>
        <p:txBody>
          <a:bodyPr/>
          <a:lstStyle/>
          <a:p>
            <a:r>
              <a:rPr lang="nb-NO" altLang="ko-KR" dirty="0" err="1"/>
              <a:t>Cooling</a:t>
            </a:r>
            <a:r>
              <a:rPr lang="nb-NO" altLang="ko-KR" dirty="0"/>
              <a:t> water system (</a:t>
            </a:r>
            <a:r>
              <a:rPr lang="nb-NO" altLang="ko-KR" dirty="0" err="1"/>
              <a:t>HiMSEN</a:t>
            </a:r>
            <a:r>
              <a:rPr lang="nb-NO" altLang="ko-KR" dirty="0"/>
              <a:t>)</a:t>
            </a:r>
            <a:endParaRPr lang="en-US" dirty="0"/>
          </a:p>
        </p:txBody>
      </p:sp>
      <p:pic>
        <p:nvPicPr>
          <p:cNvPr id="5" name="그림 4">
            <a:extLst>
              <a:ext uri="{FF2B5EF4-FFF2-40B4-BE49-F238E27FC236}">
                <a16:creationId xmlns:a16="http://schemas.microsoft.com/office/drawing/2014/main" id="{9B5F1332-CDED-7708-1FFC-85334A5BB19B}"/>
              </a:ext>
            </a:extLst>
          </p:cNvPr>
          <p:cNvPicPr>
            <a:picLocks noChangeAspect="1"/>
          </p:cNvPicPr>
          <p:nvPr/>
        </p:nvPicPr>
        <p:blipFill>
          <a:blip r:embed="rId2"/>
          <a:stretch>
            <a:fillRect/>
          </a:stretch>
        </p:blipFill>
        <p:spPr>
          <a:xfrm>
            <a:off x="5231707" y="1173952"/>
            <a:ext cx="3912293" cy="3417728"/>
          </a:xfrm>
          <a:prstGeom prst="rect">
            <a:avLst/>
          </a:prstGeom>
        </p:spPr>
      </p:pic>
      <p:pic>
        <p:nvPicPr>
          <p:cNvPr id="1026" name="Picture 2" descr="6.3 MW 2014 New Hyundai Himsen 9H25/33 HFO Generator">
            <a:extLst>
              <a:ext uri="{FF2B5EF4-FFF2-40B4-BE49-F238E27FC236}">
                <a16:creationId xmlns:a16="http://schemas.microsoft.com/office/drawing/2014/main" id="{7FEA1ABD-DDEC-93B3-1606-7BAD3B7126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801" y="968243"/>
            <a:ext cx="4940525" cy="3705394"/>
          </a:xfrm>
          <a:prstGeom prst="rect">
            <a:avLst/>
          </a:prstGeom>
          <a:noFill/>
          <a:extLst>
            <a:ext uri="{909E8E84-426E-40DD-AFC4-6F175D3DCCD1}">
              <a14:hiddenFill xmlns:a14="http://schemas.microsoft.com/office/drawing/2010/main">
                <a:solidFill>
                  <a:srgbClr val="FFFFFF"/>
                </a:solidFill>
              </a14:hiddenFill>
            </a:ext>
          </a:extLst>
        </p:spPr>
      </p:pic>
      <p:cxnSp>
        <p:nvCxnSpPr>
          <p:cNvPr id="8" name="직선 화살표 연결선 7">
            <a:extLst>
              <a:ext uri="{FF2B5EF4-FFF2-40B4-BE49-F238E27FC236}">
                <a16:creationId xmlns:a16="http://schemas.microsoft.com/office/drawing/2014/main" id="{F672ABF9-49B3-28EC-5CAF-6DEAFC2CD11C}"/>
              </a:ext>
            </a:extLst>
          </p:cNvPr>
          <p:cNvCxnSpPr/>
          <p:nvPr/>
        </p:nvCxnSpPr>
        <p:spPr>
          <a:xfrm>
            <a:off x="2791326" y="3361967"/>
            <a:ext cx="3657600" cy="69439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9" name="Text Placeholder 2">
            <a:extLst>
              <a:ext uri="{FF2B5EF4-FFF2-40B4-BE49-F238E27FC236}">
                <a16:creationId xmlns:a16="http://schemas.microsoft.com/office/drawing/2014/main" id="{14A6EFEC-A671-2BB1-6FDE-B7719E955C80}"/>
              </a:ext>
            </a:extLst>
          </p:cNvPr>
          <p:cNvSpPr txBox="1">
            <a:spLocks/>
          </p:cNvSpPr>
          <p:nvPr/>
        </p:nvSpPr>
        <p:spPr>
          <a:xfrm>
            <a:off x="5228329" y="3971965"/>
            <a:ext cx="890590"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L.O. cooler</a:t>
            </a:r>
          </a:p>
        </p:txBody>
      </p:sp>
    </p:spTree>
    <p:extLst>
      <p:ext uri="{BB962C8B-B14F-4D97-AF65-F5344CB8AC3E}">
        <p14:creationId xmlns:p14="http://schemas.microsoft.com/office/powerpoint/2010/main" val="1349628556"/>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DE348-4EEA-CE29-0614-D79F41F085A0}"/>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F6B710C7-ECDA-11F7-1962-32D18C78A5AF}"/>
              </a:ext>
            </a:extLst>
          </p:cNvPr>
          <p:cNvPicPr>
            <a:picLocks noChangeAspect="1"/>
          </p:cNvPicPr>
          <p:nvPr/>
        </p:nvPicPr>
        <p:blipFill>
          <a:blip r:embed="rId2"/>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72CF426A-C207-0495-9776-8817AC8F3C6A}"/>
              </a:ext>
            </a:extLst>
          </p:cNvPr>
          <p:cNvPicPr>
            <a:picLocks noChangeAspect="1"/>
          </p:cNvPicPr>
          <p:nvPr/>
        </p:nvPicPr>
        <p:blipFill>
          <a:blip r:embed="rId2"/>
          <a:stretch>
            <a:fillRect/>
          </a:stretch>
        </p:blipFill>
        <p:spPr>
          <a:xfrm>
            <a:off x="6380648" y="1518542"/>
            <a:ext cx="777568" cy="225506"/>
          </a:xfrm>
          <a:prstGeom prst="rect">
            <a:avLst/>
          </a:prstGeom>
        </p:spPr>
      </p:pic>
      <p:pic>
        <p:nvPicPr>
          <p:cNvPr id="6" name="그림 5">
            <a:extLst>
              <a:ext uri="{FF2B5EF4-FFF2-40B4-BE49-F238E27FC236}">
                <a16:creationId xmlns:a16="http://schemas.microsoft.com/office/drawing/2014/main" id="{416485B5-44FB-1AF8-7746-828D7A085BB5}"/>
              </a:ext>
            </a:extLst>
          </p:cNvPr>
          <p:cNvPicPr>
            <a:picLocks noChangeAspect="1"/>
          </p:cNvPicPr>
          <p:nvPr/>
        </p:nvPicPr>
        <p:blipFill>
          <a:blip r:embed="rId3"/>
          <a:stretch>
            <a:fillRect/>
          </a:stretch>
        </p:blipFill>
        <p:spPr>
          <a:xfrm>
            <a:off x="3024931" y="0"/>
            <a:ext cx="4056667" cy="5143500"/>
          </a:xfrm>
          <a:prstGeom prst="rect">
            <a:avLst/>
          </a:prstGeom>
        </p:spPr>
      </p:pic>
      <p:pic>
        <p:nvPicPr>
          <p:cNvPr id="11" name="그림 10">
            <a:extLst>
              <a:ext uri="{FF2B5EF4-FFF2-40B4-BE49-F238E27FC236}">
                <a16:creationId xmlns:a16="http://schemas.microsoft.com/office/drawing/2014/main" id="{5AA64C5F-2B6F-9660-8E26-F6BEC8579261}"/>
              </a:ext>
            </a:extLst>
          </p:cNvPr>
          <p:cNvPicPr>
            <a:picLocks noChangeAspect="1"/>
          </p:cNvPicPr>
          <p:nvPr/>
        </p:nvPicPr>
        <p:blipFill>
          <a:blip r:embed="rId4"/>
          <a:stretch>
            <a:fillRect/>
          </a:stretch>
        </p:blipFill>
        <p:spPr>
          <a:xfrm>
            <a:off x="7402506" y="926426"/>
            <a:ext cx="1383986" cy="3290647"/>
          </a:xfrm>
          <a:prstGeom prst="rect">
            <a:avLst/>
          </a:prstGeom>
        </p:spPr>
      </p:pic>
      <p:sp>
        <p:nvSpPr>
          <p:cNvPr id="14" name="Title 1">
            <a:extLst>
              <a:ext uri="{FF2B5EF4-FFF2-40B4-BE49-F238E27FC236}">
                <a16:creationId xmlns:a16="http://schemas.microsoft.com/office/drawing/2014/main" id="{AB3CC9DE-695F-B17D-9DFC-C860BDA26D3B}"/>
              </a:ext>
            </a:extLst>
          </p:cNvPr>
          <p:cNvSpPr>
            <a:spLocks noGrp="1"/>
          </p:cNvSpPr>
          <p:nvPr>
            <p:ph type="title"/>
          </p:nvPr>
        </p:nvSpPr>
        <p:spPr>
          <a:xfrm>
            <a:off x="304799" y="304655"/>
            <a:ext cx="8392313" cy="535531"/>
          </a:xfrm>
        </p:spPr>
        <p:txBody>
          <a:bodyPr/>
          <a:lstStyle/>
          <a:p>
            <a:r>
              <a:rPr lang="nb-NO" altLang="ko-KR" dirty="0"/>
              <a:t>L.O. </a:t>
            </a:r>
            <a:r>
              <a:rPr lang="nb-NO" altLang="ko-KR" dirty="0" err="1"/>
              <a:t>cooler</a:t>
            </a:r>
            <a:endParaRPr lang="en-US" dirty="0"/>
          </a:p>
        </p:txBody>
      </p:sp>
    </p:spTree>
    <p:extLst>
      <p:ext uri="{BB962C8B-B14F-4D97-AF65-F5344CB8AC3E}">
        <p14:creationId xmlns:p14="http://schemas.microsoft.com/office/powerpoint/2010/main" val="1978233809"/>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F52FB-479E-820F-4D1A-095422F1BDF6}"/>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537417A6-C167-8128-2E81-D2988B45D57E}"/>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1484706A-8FFF-8C26-BD2E-E2E6BCECC77E}"/>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981CC0F9-0043-7DB9-82CE-24471C5F1CD0}"/>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pic>
        <p:nvPicPr>
          <p:cNvPr id="2" name="온라인 미디어 1" title="Alfa Laval liquid/liquid gasketed plate-and-frame heat exchanger">
            <a:hlinkClick r:id="" action="ppaction://media"/>
            <a:extLst>
              <a:ext uri="{FF2B5EF4-FFF2-40B4-BE49-F238E27FC236}">
                <a16:creationId xmlns:a16="http://schemas.microsoft.com/office/drawing/2014/main" id="{C47D27B4-6823-7340-279F-89DDCC4E8D51}"/>
              </a:ext>
            </a:extLst>
          </p:cNvPr>
          <p:cNvPicPr>
            <a:picLocks noRot="1" noChangeAspect="1"/>
          </p:cNvPicPr>
          <p:nvPr>
            <a:videoFile r:link="rId1"/>
          </p:nvPr>
        </p:nvPicPr>
        <p:blipFill>
          <a:blip r:embed="rId4"/>
          <a:stretch>
            <a:fillRect/>
          </a:stretch>
        </p:blipFill>
        <p:spPr>
          <a:xfrm>
            <a:off x="424685" y="860114"/>
            <a:ext cx="6733531" cy="3804121"/>
          </a:xfrm>
          <a:prstGeom prst="rect">
            <a:avLst/>
          </a:prstGeom>
        </p:spPr>
      </p:pic>
    </p:spTree>
    <p:extLst>
      <p:ext uri="{BB962C8B-B14F-4D97-AF65-F5344CB8AC3E}">
        <p14:creationId xmlns:p14="http://schemas.microsoft.com/office/powerpoint/2010/main" val="185508623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9B67C-B3D4-5E00-D1C2-AF55E50B0B20}"/>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36CE4DAC-FC1F-5742-BDAA-2ECF47DEF9A4}"/>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D9FC517E-7E35-EFAB-0D32-F088493E71EF}"/>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1921D548-2401-1401-8659-B034CA352638}"/>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pic>
        <p:nvPicPr>
          <p:cNvPr id="3" name="온라인 미디어 2" title="how to clean ship's plate type cooler👊">
            <a:hlinkClick r:id="" action="ppaction://media"/>
            <a:extLst>
              <a:ext uri="{FF2B5EF4-FFF2-40B4-BE49-F238E27FC236}">
                <a16:creationId xmlns:a16="http://schemas.microsoft.com/office/drawing/2014/main" id="{DD4DF986-EE70-1355-5448-6457381DB66E}"/>
              </a:ext>
            </a:extLst>
          </p:cNvPr>
          <p:cNvPicPr>
            <a:picLocks noRot="1" noChangeAspect="1"/>
          </p:cNvPicPr>
          <p:nvPr>
            <a:videoFile r:link="rId1"/>
          </p:nvPr>
        </p:nvPicPr>
        <p:blipFill>
          <a:blip r:embed="rId4"/>
          <a:stretch>
            <a:fillRect/>
          </a:stretch>
        </p:blipFill>
        <p:spPr>
          <a:xfrm>
            <a:off x="1882440" y="816106"/>
            <a:ext cx="5237030" cy="3927773"/>
          </a:xfrm>
          <a:prstGeom prst="rect">
            <a:avLst/>
          </a:prstGeom>
        </p:spPr>
      </p:pic>
    </p:spTree>
    <p:extLst>
      <p:ext uri="{BB962C8B-B14F-4D97-AF65-F5344CB8AC3E}">
        <p14:creationId xmlns:p14="http://schemas.microsoft.com/office/powerpoint/2010/main" val="1936701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AC620-E179-90EA-A06F-B740FF99869F}"/>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45376B89-790D-6741-F310-A14A20423428}"/>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860B644D-E3D1-0951-7657-2ECA08FA8A2D}"/>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CFE069B2-A3C5-5BCC-5F35-8DC87CD174AE}"/>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pic>
        <p:nvPicPr>
          <p:cNvPr id="2" name="온라인 미디어 1" title="Plate Type , Heat Exchanger">
            <a:hlinkClick r:id="" action="ppaction://media"/>
            <a:extLst>
              <a:ext uri="{FF2B5EF4-FFF2-40B4-BE49-F238E27FC236}">
                <a16:creationId xmlns:a16="http://schemas.microsoft.com/office/drawing/2014/main" id="{9ED99E47-1A01-5996-2308-CA509F381857}"/>
              </a:ext>
            </a:extLst>
          </p:cNvPr>
          <p:cNvPicPr>
            <a:picLocks noRot="1" noChangeAspect="1"/>
          </p:cNvPicPr>
          <p:nvPr>
            <a:videoFile r:link="rId1"/>
          </p:nvPr>
        </p:nvPicPr>
        <p:blipFill>
          <a:blip r:embed="rId4"/>
          <a:stretch>
            <a:fillRect/>
          </a:stretch>
        </p:blipFill>
        <p:spPr>
          <a:xfrm>
            <a:off x="3353008" y="829426"/>
            <a:ext cx="2437984" cy="4314074"/>
          </a:xfrm>
          <a:prstGeom prst="rect">
            <a:avLst/>
          </a:prstGeom>
        </p:spPr>
      </p:pic>
    </p:spTree>
    <p:extLst>
      <p:ext uri="{BB962C8B-B14F-4D97-AF65-F5344CB8AC3E}">
        <p14:creationId xmlns:p14="http://schemas.microsoft.com/office/powerpoint/2010/main" val="235236466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5008E-4318-CA38-4200-5081CC460B96}"/>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A9E8863C-AA9F-848F-F945-F553A871BAB6}"/>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40E0DDA7-441D-F96E-0F1A-09FED05D674B}"/>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423C0991-DFFA-D11E-2D4E-0134DEBA154F}"/>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pic>
        <p:nvPicPr>
          <p:cNvPr id="2" name="온라인 미디어 1" title="Tranter Plate &amp; Frame Heat Exchanger Gasket Replacement Instructions">
            <a:hlinkClick r:id="" action="ppaction://media"/>
            <a:extLst>
              <a:ext uri="{FF2B5EF4-FFF2-40B4-BE49-F238E27FC236}">
                <a16:creationId xmlns:a16="http://schemas.microsoft.com/office/drawing/2014/main" id="{93348B7D-1840-B49E-64E5-F3C2C59643C5}"/>
              </a:ext>
            </a:extLst>
          </p:cNvPr>
          <p:cNvPicPr>
            <a:picLocks noRot="1" noChangeAspect="1"/>
          </p:cNvPicPr>
          <p:nvPr>
            <a:videoFile r:link="rId1"/>
          </p:nvPr>
        </p:nvPicPr>
        <p:blipFill>
          <a:blip r:embed="rId4"/>
          <a:stretch>
            <a:fillRect/>
          </a:stretch>
        </p:blipFill>
        <p:spPr>
          <a:xfrm>
            <a:off x="1875421" y="829543"/>
            <a:ext cx="5251067" cy="3938301"/>
          </a:xfrm>
          <a:prstGeom prst="rect">
            <a:avLst/>
          </a:prstGeom>
        </p:spPr>
      </p:pic>
    </p:spTree>
    <p:extLst>
      <p:ext uri="{BB962C8B-B14F-4D97-AF65-F5344CB8AC3E}">
        <p14:creationId xmlns:p14="http://schemas.microsoft.com/office/powerpoint/2010/main" val="97850577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0D9C0-2DFA-DE5A-A16A-5C6F9E69985E}"/>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A89FAEBA-0360-E58A-B3FC-4A4A2DAF85BA}"/>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4D2ED0B8-836B-74DA-5244-6D01139FE252}"/>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69A0272A-2830-63B4-31D0-D19AABBA7902}"/>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pic>
        <p:nvPicPr>
          <p:cNvPr id="2" name="온라인 미디어 1" title="Alfa Laval gasket profile">
            <a:hlinkClick r:id="" action="ppaction://media"/>
            <a:extLst>
              <a:ext uri="{FF2B5EF4-FFF2-40B4-BE49-F238E27FC236}">
                <a16:creationId xmlns:a16="http://schemas.microsoft.com/office/drawing/2014/main" id="{782DF266-80D3-8F90-A6B6-EEE79E6D063C}"/>
              </a:ext>
            </a:extLst>
          </p:cNvPr>
          <p:cNvPicPr>
            <a:picLocks noRot="1" noChangeAspect="1"/>
          </p:cNvPicPr>
          <p:nvPr>
            <a:videoFile r:link="rId1"/>
          </p:nvPr>
        </p:nvPicPr>
        <p:blipFill>
          <a:blip r:embed="rId4"/>
          <a:stretch>
            <a:fillRect/>
          </a:stretch>
        </p:blipFill>
        <p:spPr>
          <a:xfrm>
            <a:off x="431561" y="873150"/>
            <a:ext cx="6717567" cy="3795103"/>
          </a:xfrm>
          <a:prstGeom prst="rect">
            <a:avLst/>
          </a:prstGeom>
        </p:spPr>
      </p:pic>
    </p:spTree>
    <p:extLst>
      <p:ext uri="{BB962C8B-B14F-4D97-AF65-F5344CB8AC3E}">
        <p14:creationId xmlns:p14="http://schemas.microsoft.com/office/powerpoint/2010/main" val="282662512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C50D7-0D54-3657-F64A-53CD555224AE}"/>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C453EEB9-67D4-DE28-92BE-AB4D2C2D993E}"/>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0D7695B3-3B22-4532-23CD-6F38F8C55F7E}"/>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8A2DAAA4-8971-BCB2-ADE9-BD781BF9545F}"/>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pic>
        <p:nvPicPr>
          <p:cNvPr id="3" name="온라인 미디어 2" title="What is an O-ring and How Does it Work?">
            <a:hlinkClick r:id="" action="ppaction://media"/>
            <a:extLst>
              <a:ext uri="{FF2B5EF4-FFF2-40B4-BE49-F238E27FC236}">
                <a16:creationId xmlns:a16="http://schemas.microsoft.com/office/drawing/2014/main" id="{0AABF71E-029C-D438-F65D-1B433949256D}"/>
              </a:ext>
            </a:extLst>
          </p:cNvPr>
          <p:cNvPicPr>
            <a:picLocks noRot="1" noChangeAspect="1"/>
          </p:cNvPicPr>
          <p:nvPr>
            <a:videoFile r:link="rId1"/>
          </p:nvPr>
        </p:nvPicPr>
        <p:blipFill>
          <a:blip r:embed="rId4"/>
          <a:stretch>
            <a:fillRect/>
          </a:stretch>
        </p:blipFill>
        <p:spPr>
          <a:xfrm>
            <a:off x="423645" y="877794"/>
            <a:ext cx="6734571" cy="3804709"/>
          </a:xfrm>
          <a:prstGeom prst="rect">
            <a:avLst/>
          </a:prstGeom>
        </p:spPr>
      </p:pic>
    </p:spTree>
    <p:extLst>
      <p:ext uri="{BB962C8B-B14F-4D97-AF65-F5344CB8AC3E}">
        <p14:creationId xmlns:p14="http://schemas.microsoft.com/office/powerpoint/2010/main" val="58306186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E95AD-7581-B569-BFF9-DB08C95CCE0B}"/>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E8EB194A-CF78-E6FC-167E-22583169B888}"/>
              </a:ext>
            </a:extLst>
          </p:cNvPr>
          <p:cNvPicPr>
            <a:picLocks noChangeAspect="1"/>
          </p:cNvPicPr>
          <p:nvPr/>
        </p:nvPicPr>
        <p:blipFill>
          <a:blip r:embed="rId2"/>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8468BC21-0C04-BAA6-4AD8-7D08E1D916FE}"/>
              </a:ext>
            </a:extLst>
          </p:cNvPr>
          <p:cNvPicPr>
            <a:picLocks noChangeAspect="1"/>
          </p:cNvPicPr>
          <p:nvPr/>
        </p:nvPicPr>
        <p:blipFill>
          <a:blip r:embed="rId2"/>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5E2F3EFD-6759-9493-3FF6-DA983E25A091}"/>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sp>
        <p:nvSpPr>
          <p:cNvPr id="2" name="Text Placeholder 2">
            <a:extLst>
              <a:ext uri="{FF2B5EF4-FFF2-40B4-BE49-F238E27FC236}">
                <a16:creationId xmlns:a16="http://schemas.microsoft.com/office/drawing/2014/main" id="{1DA98C2D-726F-A9EE-CCDE-152FF21E89EF}"/>
              </a:ext>
            </a:extLst>
          </p:cNvPr>
          <p:cNvSpPr>
            <a:spLocks noGrp="1"/>
          </p:cNvSpPr>
          <p:nvPr>
            <p:ph type="body" sz="quarter" idx="10"/>
          </p:nvPr>
        </p:nvSpPr>
        <p:spPr>
          <a:xfrm>
            <a:off x="318549" y="1265892"/>
            <a:ext cx="3902815" cy="3478846"/>
          </a:xfrm>
        </p:spPr>
        <p:txBody>
          <a:bodyPr>
            <a:normAutofit/>
          </a:bodyPr>
          <a:lstStyle/>
          <a:p>
            <a:pPr marL="0" indent="0">
              <a:spcAft>
                <a:spcPts val="1000"/>
              </a:spcAft>
              <a:buNone/>
            </a:pPr>
            <a:r>
              <a:rPr lang="en-US" altLang="ko-KR" sz="1600" dirty="0"/>
              <a:t>In plate type heat exchangers, a rubber gasket is used to separate the two fluid flows.</a:t>
            </a:r>
          </a:p>
          <a:p>
            <a:pPr marL="0" indent="0">
              <a:spcAft>
                <a:spcPts val="1000"/>
              </a:spcAft>
              <a:buNone/>
            </a:pPr>
            <a:r>
              <a:rPr lang="en-US" sz="1600" dirty="0">
                <a:solidFill>
                  <a:srgbClr val="000000"/>
                </a:solidFill>
              </a:rPr>
              <a:t>However, rubber gaskets harden when exposed to heat for a long period of time, becoming less elastic and thus hindering the separation of the two fluids.</a:t>
            </a:r>
          </a:p>
          <a:p>
            <a:pPr marL="0" indent="0">
              <a:spcAft>
                <a:spcPts val="1000"/>
              </a:spcAft>
              <a:buNone/>
            </a:pPr>
            <a:r>
              <a:rPr lang="en-US" sz="1600" dirty="0">
                <a:solidFill>
                  <a:srgbClr val="000000"/>
                </a:solidFill>
              </a:rPr>
              <a:t>In particular, when the plate inside the plate type heat exchanger is disassembled for cleaning, the elasticity and damage of the gasket should be checked, and any problematic gaskets should be replaced with spare gaskets.</a:t>
            </a:r>
          </a:p>
        </p:txBody>
      </p:sp>
      <p:pic>
        <p:nvPicPr>
          <p:cNvPr id="2050" name="Picture 2" descr="Representative photographs showing the thermally degraded O-rings in the O-ring groove of the test vessel cap after 8-h thermal exposure at 316 °C. ">
            <a:extLst>
              <a:ext uri="{FF2B5EF4-FFF2-40B4-BE49-F238E27FC236}">
                <a16:creationId xmlns:a16="http://schemas.microsoft.com/office/drawing/2014/main" id="{84486738-98D7-F094-64C2-1149256A82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7617" y="1283100"/>
            <a:ext cx="4738523" cy="3111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200386"/>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2B0E1-D30A-A50D-14FB-C6A7CC46F4A1}"/>
            </a:ext>
          </a:extLst>
        </p:cNvPr>
        <p:cNvGrpSpPr/>
        <p:nvPr/>
      </p:nvGrpSpPr>
      <p:grpSpPr>
        <a:xfrm>
          <a:off x="0" y="0"/>
          <a:ext cx="0" cy="0"/>
          <a:chOff x="0" y="0"/>
          <a:chExt cx="0" cy="0"/>
        </a:xfrm>
      </p:grpSpPr>
      <p:pic>
        <p:nvPicPr>
          <p:cNvPr id="8194" name="Picture 2" descr="How plate heat exchangers work | Alfa Laval">
            <a:extLst>
              <a:ext uri="{FF2B5EF4-FFF2-40B4-BE49-F238E27FC236}">
                <a16:creationId xmlns:a16="http://schemas.microsoft.com/office/drawing/2014/main" id="{FB851FE4-9223-96A3-D727-F4CBC4851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154" y="1436914"/>
            <a:ext cx="5075440" cy="3219733"/>
          </a:xfrm>
          <a:prstGeom prst="rect">
            <a:avLst/>
          </a:prstGeom>
          <a:noFill/>
          <a:extLst>
            <a:ext uri="{909E8E84-426E-40DD-AFC4-6F175D3DCCD1}">
              <a14:hiddenFill xmlns:a14="http://schemas.microsoft.com/office/drawing/2010/main">
                <a:solidFill>
                  <a:srgbClr val="FFFFFF"/>
                </a:solidFill>
              </a14:hiddenFill>
            </a:ext>
          </a:extLst>
        </p:spPr>
      </p:pic>
      <p:pic>
        <p:nvPicPr>
          <p:cNvPr id="9" name="그림 8">
            <a:extLst>
              <a:ext uri="{FF2B5EF4-FFF2-40B4-BE49-F238E27FC236}">
                <a16:creationId xmlns:a16="http://schemas.microsoft.com/office/drawing/2014/main" id="{42C15D39-6BA4-37E6-177A-25C2A4B86B29}"/>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C0FE1B79-8950-7795-875D-C6FF48E6D67A}"/>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sp>
        <p:nvSpPr>
          <p:cNvPr id="2" name="Text Placeholder 2">
            <a:extLst>
              <a:ext uri="{FF2B5EF4-FFF2-40B4-BE49-F238E27FC236}">
                <a16:creationId xmlns:a16="http://schemas.microsoft.com/office/drawing/2014/main" id="{E75969DB-39CC-A36B-D22F-F26BA71A7B16}"/>
              </a:ext>
            </a:extLst>
          </p:cNvPr>
          <p:cNvSpPr>
            <a:spLocks noGrp="1"/>
          </p:cNvSpPr>
          <p:nvPr>
            <p:ph type="body" sz="quarter" idx="10"/>
          </p:nvPr>
        </p:nvSpPr>
        <p:spPr>
          <a:xfrm>
            <a:off x="427058" y="1582151"/>
            <a:ext cx="3902815" cy="2659840"/>
          </a:xfrm>
        </p:spPr>
        <p:txBody>
          <a:bodyPr>
            <a:normAutofit/>
          </a:bodyPr>
          <a:lstStyle/>
          <a:p>
            <a:pPr marL="0" indent="0">
              <a:spcAft>
                <a:spcPts val="1000"/>
              </a:spcAft>
              <a:buNone/>
            </a:pPr>
            <a:r>
              <a:rPr lang="en-US" altLang="ko-KR" sz="1600" dirty="0"/>
              <a:t>After cleaning the plate, when assembling the plate exchanger, tighten the tightening nut in an X shape to ensure that the rubber gasket is evenly sealed throughout.</a:t>
            </a:r>
          </a:p>
          <a:p>
            <a:pPr marL="0" indent="0">
              <a:spcAft>
                <a:spcPts val="1000"/>
              </a:spcAft>
              <a:buNone/>
            </a:pPr>
            <a:endParaRPr lang="en-US" sz="1600" dirty="0">
              <a:solidFill>
                <a:srgbClr val="000000"/>
              </a:solidFill>
            </a:endParaRPr>
          </a:p>
          <a:p>
            <a:pPr marL="0" indent="0">
              <a:spcAft>
                <a:spcPts val="1000"/>
              </a:spcAft>
              <a:buNone/>
            </a:pPr>
            <a:r>
              <a:rPr lang="en-US" sz="1600" dirty="0">
                <a:solidFill>
                  <a:srgbClr val="000000"/>
                </a:solidFill>
              </a:rPr>
              <a:t>If you tighten one nut as tight as possible and then tighten the other nut as tight as possible, the rubber gasket will not seal evenly, causing leakage.</a:t>
            </a:r>
          </a:p>
        </p:txBody>
      </p:sp>
      <p:pic>
        <p:nvPicPr>
          <p:cNvPr id="8196" name="Picture 4" descr="How to Tighten Lug Nuts - NLMotoring.com">
            <a:extLst>
              <a:ext uri="{FF2B5EF4-FFF2-40B4-BE49-F238E27FC236}">
                <a16:creationId xmlns:a16="http://schemas.microsoft.com/office/drawing/2014/main" id="{682064FD-E95C-71D1-3E0A-FFB3A5021B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4506" y="33584"/>
            <a:ext cx="1710463" cy="1710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1026097"/>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D7BC-5BC3-EB55-F2FB-496A983671D5}"/>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AC67190E-4890-A6CC-5D6F-AF7BDA85273D}"/>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0D240490-422D-0A6C-053A-4ED1AEAEA1C0}"/>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409C079B-0E16-3391-273E-D5CD9F90C0D4}"/>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pic>
        <p:nvPicPr>
          <p:cNvPr id="2" name="온라인 미디어 1" title="Alfa Laval Gasketed plate heat exchangers - Closing procedure">
            <a:hlinkClick r:id="" action="ppaction://media"/>
            <a:extLst>
              <a:ext uri="{FF2B5EF4-FFF2-40B4-BE49-F238E27FC236}">
                <a16:creationId xmlns:a16="http://schemas.microsoft.com/office/drawing/2014/main" id="{7BFB44AA-F138-04DA-FB68-C7DA0ABF9121}"/>
              </a:ext>
            </a:extLst>
          </p:cNvPr>
          <p:cNvPicPr>
            <a:picLocks noRot="1" noChangeAspect="1"/>
          </p:cNvPicPr>
          <p:nvPr>
            <a:videoFile r:link="rId1"/>
          </p:nvPr>
        </p:nvPicPr>
        <p:blipFill>
          <a:blip r:embed="rId4"/>
          <a:stretch>
            <a:fillRect/>
          </a:stretch>
        </p:blipFill>
        <p:spPr>
          <a:xfrm>
            <a:off x="424686" y="962010"/>
            <a:ext cx="6553630" cy="3702487"/>
          </a:xfrm>
          <a:prstGeom prst="rect">
            <a:avLst/>
          </a:prstGeom>
        </p:spPr>
      </p:pic>
    </p:spTree>
    <p:extLst>
      <p:ext uri="{BB962C8B-B14F-4D97-AF65-F5344CB8AC3E}">
        <p14:creationId xmlns:p14="http://schemas.microsoft.com/office/powerpoint/2010/main" val="235624275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FC4CB-0D90-DA5E-640E-7385BD305E74}"/>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15450B19-B84B-AA90-572A-CE7DF3984952}"/>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1277CAD8-0ECC-5CCE-9D60-A337E44DD10B}"/>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EDB60D78-0D7D-8D43-C9F2-00323D014A8D}"/>
              </a:ext>
            </a:extLst>
          </p:cNvPr>
          <p:cNvSpPr>
            <a:spLocks noGrp="1"/>
          </p:cNvSpPr>
          <p:nvPr>
            <p:ph type="title"/>
          </p:nvPr>
        </p:nvSpPr>
        <p:spPr>
          <a:xfrm>
            <a:off x="304799" y="304655"/>
            <a:ext cx="8392313" cy="535531"/>
          </a:xfrm>
        </p:spPr>
        <p:txBody>
          <a:bodyPr/>
          <a:lstStyle/>
          <a:p>
            <a:r>
              <a:rPr lang="nb-NO" altLang="ko-KR" dirty="0"/>
              <a:t>Plate type heat </a:t>
            </a:r>
            <a:r>
              <a:rPr lang="nb-NO" altLang="ko-KR" dirty="0" err="1"/>
              <a:t>exchanger</a:t>
            </a:r>
            <a:r>
              <a:rPr lang="nb-NO" altLang="ko-KR" dirty="0"/>
              <a:t> (=</a:t>
            </a:r>
            <a:r>
              <a:rPr lang="nb-NO" altLang="ko-KR" dirty="0" err="1"/>
              <a:t>Cooler</a:t>
            </a:r>
            <a:r>
              <a:rPr lang="nb-NO" altLang="ko-KR" dirty="0"/>
              <a:t>)</a:t>
            </a:r>
            <a:endParaRPr lang="en-US" dirty="0"/>
          </a:p>
        </p:txBody>
      </p:sp>
      <p:pic>
        <p:nvPicPr>
          <p:cNvPr id="5" name="온라인 미디어 4" title="Heat Exchanger Leakage test">
            <a:hlinkClick r:id="" action="ppaction://media"/>
            <a:extLst>
              <a:ext uri="{FF2B5EF4-FFF2-40B4-BE49-F238E27FC236}">
                <a16:creationId xmlns:a16="http://schemas.microsoft.com/office/drawing/2014/main" id="{BD7DCA4F-E9A7-C1F2-434B-645B4C334953}"/>
              </a:ext>
            </a:extLst>
          </p:cNvPr>
          <p:cNvPicPr>
            <a:picLocks noRot="1" noChangeAspect="1"/>
          </p:cNvPicPr>
          <p:nvPr>
            <a:videoFile r:link="rId1"/>
          </p:nvPr>
        </p:nvPicPr>
        <p:blipFill>
          <a:blip r:embed="rId4"/>
          <a:stretch>
            <a:fillRect/>
          </a:stretch>
        </p:blipFill>
        <p:spPr>
          <a:xfrm>
            <a:off x="3358529" y="855528"/>
            <a:ext cx="2426941" cy="4294532"/>
          </a:xfrm>
          <a:prstGeom prst="rect">
            <a:avLst/>
          </a:prstGeom>
        </p:spPr>
      </p:pic>
    </p:spTree>
    <p:extLst>
      <p:ext uri="{BB962C8B-B14F-4D97-AF65-F5344CB8AC3E}">
        <p14:creationId xmlns:p14="http://schemas.microsoft.com/office/powerpoint/2010/main" val="360572099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EFEC2-7E29-8CC9-8369-89C57BB92C11}"/>
            </a:ext>
          </a:extLst>
        </p:cNvPr>
        <p:cNvGrpSpPr/>
        <p:nvPr/>
      </p:nvGrpSpPr>
      <p:grpSpPr>
        <a:xfrm>
          <a:off x="0" y="0"/>
          <a:ext cx="0" cy="0"/>
          <a:chOff x="0" y="0"/>
          <a:chExt cx="0" cy="0"/>
        </a:xfrm>
      </p:grpSpPr>
      <p:pic>
        <p:nvPicPr>
          <p:cNvPr id="16390" name="Picture 6" descr="5 Types Of Shell And Tube Heat Exchangers And How They Work - News">
            <a:extLst>
              <a:ext uri="{FF2B5EF4-FFF2-40B4-BE49-F238E27FC236}">
                <a16:creationId xmlns:a16="http://schemas.microsoft.com/office/drawing/2014/main" id="{4389BF80-5D92-8813-D41A-3B197562C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2012" y="8151"/>
            <a:ext cx="4070111" cy="3052582"/>
          </a:xfrm>
          <a:prstGeom prst="rect">
            <a:avLst/>
          </a:prstGeom>
          <a:noFill/>
          <a:extLst>
            <a:ext uri="{909E8E84-426E-40DD-AFC4-6F175D3DCCD1}">
              <a14:hiddenFill xmlns:a14="http://schemas.microsoft.com/office/drawing/2010/main">
                <a:solidFill>
                  <a:srgbClr val="FFFFFF"/>
                </a:solidFill>
              </a14:hiddenFill>
            </a:ext>
          </a:extLst>
        </p:spPr>
      </p:pic>
      <p:pic>
        <p:nvPicPr>
          <p:cNvPr id="8" name="그림 7">
            <a:extLst>
              <a:ext uri="{FF2B5EF4-FFF2-40B4-BE49-F238E27FC236}">
                <a16:creationId xmlns:a16="http://schemas.microsoft.com/office/drawing/2014/main" id="{48008C0A-9D44-AD4D-2E96-62993D27520A}"/>
              </a:ext>
            </a:extLst>
          </p:cNvPr>
          <p:cNvPicPr>
            <a:picLocks noChangeAspect="1"/>
          </p:cNvPicPr>
          <p:nvPr/>
        </p:nvPicPr>
        <p:blipFill>
          <a:blip r:embed="rId3"/>
          <a:stretch>
            <a:fillRect/>
          </a:stretch>
        </p:blipFill>
        <p:spPr>
          <a:xfrm>
            <a:off x="6517006" y="3775854"/>
            <a:ext cx="777568" cy="225506"/>
          </a:xfrm>
          <a:prstGeom prst="rect">
            <a:avLst/>
          </a:prstGeom>
        </p:spPr>
      </p:pic>
      <p:sp>
        <p:nvSpPr>
          <p:cNvPr id="14" name="Title 1">
            <a:extLst>
              <a:ext uri="{FF2B5EF4-FFF2-40B4-BE49-F238E27FC236}">
                <a16:creationId xmlns:a16="http://schemas.microsoft.com/office/drawing/2014/main" id="{5E5A9FD8-6B11-F41E-21BC-4994B0A2E17D}"/>
              </a:ext>
            </a:extLst>
          </p:cNvPr>
          <p:cNvSpPr>
            <a:spLocks noGrp="1"/>
          </p:cNvSpPr>
          <p:nvPr>
            <p:ph type="title"/>
          </p:nvPr>
        </p:nvSpPr>
        <p:spPr>
          <a:xfrm>
            <a:off x="304799" y="304655"/>
            <a:ext cx="8392313" cy="535531"/>
          </a:xfrm>
        </p:spPr>
        <p:txBody>
          <a:bodyPr/>
          <a:lstStyle/>
          <a:p>
            <a:r>
              <a:rPr lang="nb-NO" altLang="ko-KR" dirty="0"/>
              <a:t>Shell type heat </a:t>
            </a:r>
            <a:r>
              <a:rPr lang="nb-NO" altLang="ko-KR" dirty="0" err="1"/>
              <a:t>exchanger</a:t>
            </a:r>
            <a:r>
              <a:rPr lang="nb-NO" altLang="ko-KR" dirty="0"/>
              <a:t> (=</a:t>
            </a:r>
            <a:r>
              <a:rPr lang="nb-NO" altLang="ko-KR" dirty="0" err="1"/>
              <a:t>Cooler</a:t>
            </a:r>
            <a:r>
              <a:rPr lang="nb-NO" altLang="ko-KR" dirty="0"/>
              <a:t>)</a:t>
            </a:r>
            <a:endParaRPr lang="en-US" dirty="0"/>
          </a:p>
        </p:txBody>
      </p:sp>
      <p:pic>
        <p:nvPicPr>
          <p:cNvPr id="16386" name="Picture 2" descr="HEAT EXCHANGER (2/5) TYPES | Marine Engineering | MEO Class 4 | Mucky  Mariners">
            <a:extLst>
              <a:ext uri="{FF2B5EF4-FFF2-40B4-BE49-F238E27FC236}">
                <a16:creationId xmlns:a16="http://schemas.microsoft.com/office/drawing/2014/main" id="{E5211338-865C-7D06-1076-5CA425E9E7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642" y="1794424"/>
            <a:ext cx="4750950" cy="3136481"/>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2">
            <a:extLst>
              <a:ext uri="{FF2B5EF4-FFF2-40B4-BE49-F238E27FC236}">
                <a16:creationId xmlns:a16="http://schemas.microsoft.com/office/drawing/2014/main" id="{0A37FD9C-4FEE-C1CB-629D-FAA100F90442}"/>
              </a:ext>
            </a:extLst>
          </p:cNvPr>
          <p:cNvSpPr>
            <a:spLocks noGrp="1"/>
          </p:cNvSpPr>
          <p:nvPr>
            <p:ph type="body" sz="quarter" idx="10"/>
          </p:nvPr>
        </p:nvSpPr>
        <p:spPr>
          <a:xfrm>
            <a:off x="358306" y="1130621"/>
            <a:ext cx="3979265" cy="663803"/>
          </a:xfrm>
        </p:spPr>
        <p:txBody>
          <a:bodyPr>
            <a:normAutofit/>
          </a:bodyPr>
          <a:lstStyle/>
          <a:p>
            <a:pPr marL="0" indent="0">
              <a:spcAft>
                <a:spcPts val="1000"/>
              </a:spcAft>
              <a:buNone/>
            </a:pPr>
            <a:r>
              <a:rPr lang="en-US" altLang="ko-KR" sz="1600" dirty="0"/>
              <a:t>The L.O. cooler of some generators uses a shell type heat exchanger.</a:t>
            </a:r>
            <a:endParaRPr lang="en-US" sz="1600" dirty="0">
              <a:solidFill>
                <a:srgbClr val="000000"/>
              </a:solidFill>
            </a:endParaRPr>
          </a:p>
        </p:txBody>
      </p:sp>
      <p:pic>
        <p:nvPicPr>
          <p:cNvPr id="16388" name="Picture 4" descr="Stainless Steel Heat Exchanger, Suitable for Industrial Applications, Flow  Rate: 1200 Nm3/hr, Maximum Working Pressure: 10 bar in Bangalore at ₹ 2,000  - ₹ 32,000 / Pc by H R Engineering Work Pvt Ltd - Justdial">
            <a:extLst>
              <a:ext uri="{FF2B5EF4-FFF2-40B4-BE49-F238E27FC236}">
                <a16:creationId xmlns:a16="http://schemas.microsoft.com/office/drawing/2014/main" id="{2C5AFFB9-17E7-D454-1BEA-4381B05EAD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8887" y="2823125"/>
            <a:ext cx="4125113" cy="2320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0349294"/>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DD7FC-77CC-5753-0153-3A8148E30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25A84-A6F6-35FC-2054-EC58F9990A8F}"/>
              </a:ext>
            </a:extLst>
          </p:cNvPr>
          <p:cNvSpPr>
            <a:spLocks noGrp="1"/>
          </p:cNvSpPr>
          <p:nvPr>
            <p:ph type="title"/>
          </p:nvPr>
        </p:nvSpPr>
        <p:spPr>
          <a:xfrm>
            <a:off x="304799" y="304655"/>
            <a:ext cx="8392313" cy="535531"/>
          </a:xfrm>
        </p:spPr>
        <p:txBody>
          <a:bodyPr/>
          <a:lstStyle/>
          <a:p>
            <a:r>
              <a:rPr lang="nb-NO" altLang="ko-KR" dirty="0"/>
              <a:t>Air </a:t>
            </a:r>
            <a:r>
              <a:rPr lang="nb-NO" altLang="ko-KR" dirty="0" err="1"/>
              <a:t>Cooler</a:t>
            </a:r>
            <a:r>
              <a:rPr lang="nb-NO" altLang="ko-KR" dirty="0"/>
              <a:t> (</a:t>
            </a:r>
            <a:r>
              <a:rPr lang="nb-NO" altLang="ko-KR" dirty="0" err="1"/>
              <a:t>HiMSEN</a:t>
            </a:r>
            <a:r>
              <a:rPr lang="nb-NO" altLang="ko-KR" dirty="0"/>
              <a:t>)</a:t>
            </a:r>
            <a:endParaRPr lang="en-US" dirty="0"/>
          </a:p>
        </p:txBody>
      </p:sp>
      <p:pic>
        <p:nvPicPr>
          <p:cNvPr id="5" name="그림 4">
            <a:extLst>
              <a:ext uri="{FF2B5EF4-FFF2-40B4-BE49-F238E27FC236}">
                <a16:creationId xmlns:a16="http://schemas.microsoft.com/office/drawing/2014/main" id="{BDB7B910-2292-55A6-5D04-D537B4429AAE}"/>
              </a:ext>
            </a:extLst>
          </p:cNvPr>
          <p:cNvPicPr>
            <a:picLocks noChangeAspect="1"/>
          </p:cNvPicPr>
          <p:nvPr/>
        </p:nvPicPr>
        <p:blipFill>
          <a:blip r:embed="rId2"/>
          <a:stretch>
            <a:fillRect/>
          </a:stretch>
        </p:blipFill>
        <p:spPr>
          <a:xfrm>
            <a:off x="5231707" y="1173952"/>
            <a:ext cx="3912293" cy="3417728"/>
          </a:xfrm>
          <a:prstGeom prst="rect">
            <a:avLst/>
          </a:prstGeom>
        </p:spPr>
      </p:pic>
      <p:sp>
        <p:nvSpPr>
          <p:cNvPr id="9" name="Text Placeholder 2">
            <a:extLst>
              <a:ext uri="{FF2B5EF4-FFF2-40B4-BE49-F238E27FC236}">
                <a16:creationId xmlns:a16="http://schemas.microsoft.com/office/drawing/2014/main" id="{B0650FD5-525D-CCAF-0973-7BAE22CB6EEE}"/>
              </a:ext>
            </a:extLst>
          </p:cNvPr>
          <p:cNvSpPr txBox="1">
            <a:spLocks/>
          </p:cNvSpPr>
          <p:nvPr/>
        </p:nvSpPr>
        <p:spPr>
          <a:xfrm>
            <a:off x="4628283" y="1898507"/>
            <a:ext cx="1206848"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Charge air cooler</a:t>
            </a:r>
          </a:p>
        </p:txBody>
      </p:sp>
      <p:pic>
        <p:nvPicPr>
          <p:cNvPr id="4" name="그림 3">
            <a:extLst>
              <a:ext uri="{FF2B5EF4-FFF2-40B4-BE49-F238E27FC236}">
                <a16:creationId xmlns:a16="http://schemas.microsoft.com/office/drawing/2014/main" id="{A7DB141C-AABD-D083-F5DB-4D7924642F3D}"/>
              </a:ext>
            </a:extLst>
          </p:cNvPr>
          <p:cNvPicPr>
            <a:picLocks noChangeAspect="1"/>
          </p:cNvPicPr>
          <p:nvPr/>
        </p:nvPicPr>
        <p:blipFill>
          <a:blip r:embed="rId3"/>
          <a:stretch>
            <a:fillRect/>
          </a:stretch>
        </p:blipFill>
        <p:spPr>
          <a:xfrm>
            <a:off x="422270" y="929426"/>
            <a:ext cx="3840347" cy="2256127"/>
          </a:xfrm>
          <a:prstGeom prst="rect">
            <a:avLst/>
          </a:prstGeom>
        </p:spPr>
      </p:pic>
      <p:cxnSp>
        <p:nvCxnSpPr>
          <p:cNvPr id="8" name="직선 화살표 연결선 7">
            <a:extLst>
              <a:ext uri="{FF2B5EF4-FFF2-40B4-BE49-F238E27FC236}">
                <a16:creationId xmlns:a16="http://schemas.microsoft.com/office/drawing/2014/main" id="{01243013-2126-6E53-2CF3-C6D8E5A46E6B}"/>
              </a:ext>
            </a:extLst>
          </p:cNvPr>
          <p:cNvCxnSpPr>
            <a:cxnSpLocks/>
          </p:cNvCxnSpPr>
          <p:nvPr/>
        </p:nvCxnSpPr>
        <p:spPr>
          <a:xfrm>
            <a:off x="3355092" y="2142196"/>
            <a:ext cx="2915079" cy="11286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10" name="그림 9">
            <a:extLst>
              <a:ext uri="{FF2B5EF4-FFF2-40B4-BE49-F238E27FC236}">
                <a16:creationId xmlns:a16="http://schemas.microsoft.com/office/drawing/2014/main" id="{07779D34-0D5B-9328-F5DC-DD6D997119AD}"/>
              </a:ext>
            </a:extLst>
          </p:cNvPr>
          <p:cNvPicPr>
            <a:picLocks noChangeAspect="1"/>
          </p:cNvPicPr>
          <p:nvPr/>
        </p:nvPicPr>
        <p:blipFill>
          <a:blip r:embed="rId4"/>
          <a:stretch>
            <a:fillRect/>
          </a:stretch>
        </p:blipFill>
        <p:spPr>
          <a:xfrm>
            <a:off x="1519417" y="3333456"/>
            <a:ext cx="2743200" cy="1810043"/>
          </a:xfrm>
          <a:prstGeom prst="rect">
            <a:avLst/>
          </a:prstGeom>
        </p:spPr>
      </p:pic>
      <p:cxnSp>
        <p:nvCxnSpPr>
          <p:cNvPr id="12" name="직선 화살표 연결선 11">
            <a:extLst>
              <a:ext uri="{FF2B5EF4-FFF2-40B4-BE49-F238E27FC236}">
                <a16:creationId xmlns:a16="http://schemas.microsoft.com/office/drawing/2014/main" id="{5BAF114A-EA4B-4FCE-625B-2F1BC5914DDA}"/>
              </a:ext>
            </a:extLst>
          </p:cNvPr>
          <p:cNvCxnSpPr>
            <a:cxnSpLocks/>
          </p:cNvCxnSpPr>
          <p:nvPr/>
        </p:nvCxnSpPr>
        <p:spPr>
          <a:xfrm>
            <a:off x="2891017" y="2487102"/>
            <a:ext cx="0" cy="103886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4878632"/>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5EB42-982E-B4FA-7B27-99C396B7C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1892A-24B7-BB6D-443C-BD0483E3C2CC}"/>
              </a:ext>
            </a:extLst>
          </p:cNvPr>
          <p:cNvSpPr>
            <a:spLocks noGrp="1"/>
          </p:cNvSpPr>
          <p:nvPr>
            <p:ph type="title"/>
          </p:nvPr>
        </p:nvSpPr>
        <p:spPr>
          <a:xfrm>
            <a:off x="304799" y="304655"/>
            <a:ext cx="8392313" cy="535531"/>
          </a:xfrm>
        </p:spPr>
        <p:txBody>
          <a:bodyPr/>
          <a:lstStyle/>
          <a:p>
            <a:r>
              <a:rPr lang="nb-NO" altLang="ko-KR" dirty="0"/>
              <a:t>Air </a:t>
            </a:r>
            <a:r>
              <a:rPr lang="nb-NO" altLang="ko-KR" dirty="0" err="1"/>
              <a:t>Cooler</a:t>
            </a:r>
            <a:r>
              <a:rPr lang="nb-NO" altLang="ko-KR" dirty="0"/>
              <a:t> (</a:t>
            </a:r>
            <a:r>
              <a:rPr lang="nb-NO" altLang="ko-KR" dirty="0" err="1"/>
              <a:t>HiMSEN</a:t>
            </a:r>
            <a:r>
              <a:rPr lang="nb-NO" altLang="ko-KR" dirty="0"/>
              <a:t>)</a:t>
            </a:r>
            <a:endParaRPr lang="en-US" dirty="0"/>
          </a:p>
        </p:txBody>
      </p:sp>
      <p:pic>
        <p:nvPicPr>
          <p:cNvPr id="9218" name="Picture 2" descr="Charge air cooler">
            <a:extLst>
              <a:ext uri="{FF2B5EF4-FFF2-40B4-BE49-F238E27FC236}">
                <a16:creationId xmlns:a16="http://schemas.microsoft.com/office/drawing/2014/main" id="{4F4D59C5-EEC5-D6B4-759F-44256FEF13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301613" y="1448000"/>
            <a:ext cx="2394696" cy="2581670"/>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431452D0-FD6B-5448-8E1B-62BBB3D284FD}"/>
              </a:ext>
            </a:extLst>
          </p:cNvPr>
          <p:cNvSpPr>
            <a:spLocks noGrp="1"/>
          </p:cNvSpPr>
          <p:nvPr>
            <p:ph type="body" sz="quarter" idx="10"/>
          </p:nvPr>
        </p:nvSpPr>
        <p:spPr>
          <a:xfrm>
            <a:off x="319049" y="1450665"/>
            <a:ext cx="2816038" cy="2873828"/>
          </a:xfrm>
        </p:spPr>
        <p:txBody>
          <a:bodyPr>
            <a:normAutofit/>
          </a:bodyPr>
          <a:lstStyle/>
          <a:p>
            <a:pPr marL="0" indent="0">
              <a:spcAft>
                <a:spcPts val="1000"/>
              </a:spcAft>
              <a:buNone/>
            </a:pPr>
            <a:r>
              <a:rPr lang="en-US" altLang="ko-KR" sz="1600" dirty="0"/>
              <a:t>Cooling water flows through the tubes and charged air from the turbocharger flows between the fins.</a:t>
            </a:r>
          </a:p>
          <a:p>
            <a:pPr marL="0" indent="0">
              <a:spcAft>
                <a:spcPts val="1000"/>
              </a:spcAft>
              <a:buNone/>
            </a:pPr>
            <a:endParaRPr lang="en-US" sz="1600" dirty="0">
              <a:solidFill>
                <a:srgbClr val="000000"/>
              </a:solidFill>
            </a:endParaRPr>
          </a:p>
          <a:p>
            <a:pPr marL="0" indent="0">
              <a:spcAft>
                <a:spcPts val="1000"/>
              </a:spcAft>
              <a:buNone/>
            </a:pPr>
            <a:r>
              <a:rPr lang="en-US" sz="1600" dirty="0">
                <a:solidFill>
                  <a:srgbClr val="000000"/>
                </a:solidFill>
              </a:rPr>
              <a:t>Accordingly, heat exchange occurs between the cooling water and the charged air, so that the charged air is cooled and supplied into the cylinder.</a:t>
            </a:r>
          </a:p>
        </p:txBody>
      </p:sp>
      <p:pic>
        <p:nvPicPr>
          <p:cNvPr id="9222" name="Picture 6" descr="Charge Air Cooler Manufacturer | AKS Heat Transfer, Sheffield">
            <a:extLst>
              <a:ext uri="{FF2B5EF4-FFF2-40B4-BE49-F238E27FC236}">
                <a16:creationId xmlns:a16="http://schemas.microsoft.com/office/drawing/2014/main" id="{5CF4BE77-7FC3-B9CB-F3DD-6C5EFD59AE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2835" y="1019238"/>
            <a:ext cx="3019848" cy="3105023"/>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350AC10B-B1D3-199D-59EC-B2447DB956D1}"/>
              </a:ext>
            </a:extLst>
          </p:cNvPr>
          <p:cNvSpPr txBox="1">
            <a:spLocks/>
          </p:cNvSpPr>
          <p:nvPr/>
        </p:nvSpPr>
        <p:spPr>
          <a:xfrm>
            <a:off x="6689188" y="454933"/>
            <a:ext cx="1206848" cy="24368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600" b="1" dirty="0">
                <a:solidFill>
                  <a:srgbClr val="000000"/>
                </a:solidFill>
                <a:latin typeface="Calibri" panose="020F0502020204030204" pitchFamily="34" charset="0"/>
                <a:cs typeface="Calibri" panose="020F0502020204030204" pitchFamily="34" charset="0"/>
              </a:rPr>
              <a:t>Charged air</a:t>
            </a:r>
          </a:p>
        </p:txBody>
      </p:sp>
      <p:cxnSp>
        <p:nvCxnSpPr>
          <p:cNvPr id="7" name="직선 화살표 연결선 6">
            <a:extLst>
              <a:ext uri="{FF2B5EF4-FFF2-40B4-BE49-F238E27FC236}">
                <a16:creationId xmlns:a16="http://schemas.microsoft.com/office/drawing/2014/main" id="{BF420AD8-B4C4-5340-09C9-B08D9E9BBA13}"/>
              </a:ext>
            </a:extLst>
          </p:cNvPr>
          <p:cNvCxnSpPr>
            <a:cxnSpLocks/>
          </p:cNvCxnSpPr>
          <p:nvPr/>
        </p:nvCxnSpPr>
        <p:spPr>
          <a:xfrm flipH="1" flipV="1">
            <a:off x="7891200" y="3547874"/>
            <a:ext cx="592382" cy="77661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4" name="Text Placeholder 2">
            <a:extLst>
              <a:ext uri="{FF2B5EF4-FFF2-40B4-BE49-F238E27FC236}">
                <a16:creationId xmlns:a16="http://schemas.microsoft.com/office/drawing/2014/main" id="{E9FE8970-281E-9BF8-932B-AC8DC3275AD0}"/>
              </a:ext>
            </a:extLst>
          </p:cNvPr>
          <p:cNvSpPr txBox="1">
            <a:spLocks/>
          </p:cNvSpPr>
          <p:nvPr/>
        </p:nvSpPr>
        <p:spPr>
          <a:xfrm>
            <a:off x="7375102" y="4071466"/>
            <a:ext cx="1032196" cy="24368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600" b="1" dirty="0">
                <a:solidFill>
                  <a:srgbClr val="000000"/>
                </a:solidFill>
                <a:latin typeface="Calibri" panose="020F0502020204030204" pitchFamily="34" charset="0"/>
                <a:cs typeface="Calibri" panose="020F0502020204030204" pitchFamily="34" charset="0"/>
              </a:rPr>
              <a:t>Cooling water</a:t>
            </a:r>
          </a:p>
        </p:txBody>
      </p:sp>
      <p:cxnSp>
        <p:nvCxnSpPr>
          <p:cNvPr id="15" name="직선 화살표 연결선 14">
            <a:extLst>
              <a:ext uri="{FF2B5EF4-FFF2-40B4-BE49-F238E27FC236}">
                <a16:creationId xmlns:a16="http://schemas.microsoft.com/office/drawing/2014/main" id="{3FC3AD08-D725-1640-6AC0-DC4D1B3B50D8}"/>
              </a:ext>
            </a:extLst>
          </p:cNvPr>
          <p:cNvCxnSpPr>
            <a:cxnSpLocks/>
          </p:cNvCxnSpPr>
          <p:nvPr/>
        </p:nvCxnSpPr>
        <p:spPr>
          <a:xfrm>
            <a:off x="6689188" y="206256"/>
            <a:ext cx="0" cy="82354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9098906"/>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F0FF4-0A43-3A41-FB82-17483463E4C2}"/>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FB5F48E8-5472-9433-6903-44444CBF05B7}"/>
              </a:ext>
            </a:extLst>
          </p:cNvPr>
          <p:cNvPicPr>
            <a:picLocks noChangeAspect="1"/>
          </p:cNvPicPr>
          <p:nvPr/>
        </p:nvPicPr>
        <p:blipFill>
          <a:blip r:embed="rId3"/>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2D32A0B3-6794-4FF4-656E-3A6AE58CEADF}"/>
              </a:ext>
            </a:extLst>
          </p:cNvPr>
          <p:cNvPicPr>
            <a:picLocks noChangeAspect="1"/>
          </p:cNvPicPr>
          <p:nvPr/>
        </p:nvPicPr>
        <p:blipFill>
          <a:blip r:embed="rId3"/>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1405B0C7-B74F-E3CC-6EF9-753742558700}"/>
              </a:ext>
            </a:extLst>
          </p:cNvPr>
          <p:cNvSpPr>
            <a:spLocks noGrp="1"/>
          </p:cNvSpPr>
          <p:nvPr>
            <p:ph type="title"/>
          </p:nvPr>
        </p:nvSpPr>
        <p:spPr>
          <a:xfrm>
            <a:off x="304799" y="304655"/>
            <a:ext cx="8392313" cy="535531"/>
          </a:xfrm>
        </p:spPr>
        <p:txBody>
          <a:bodyPr/>
          <a:lstStyle/>
          <a:p>
            <a:r>
              <a:rPr lang="nb-NO" altLang="ko-KR" dirty="0"/>
              <a:t>Air </a:t>
            </a:r>
            <a:r>
              <a:rPr lang="nb-NO" altLang="ko-KR" dirty="0" err="1"/>
              <a:t>Cooler</a:t>
            </a:r>
            <a:r>
              <a:rPr lang="nb-NO" altLang="ko-KR" dirty="0"/>
              <a:t> (</a:t>
            </a:r>
            <a:r>
              <a:rPr lang="nb-NO" altLang="ko-KR" dirty="0" err="1"/>
              <a:t>HiMSEN</a:t>
            </a:r>
            <a:r>
              <a:rPr lang="nb-NO" altLang="ko-KR" dirty="0"/>
              <a:t>)</a:t>
            </a:r>
            <a:endParaRPr lang="en-US" dirty="0"/>
          </a:p>
        </p:txBody>
      </p:sp>
      <p:pic>
        <p:nvPicPr>
          <p:cNvPr id="3" name="온라인 미디어 2" title="Generator Engine AIR COOLER Removal">
            <a:hlinkClick r:id="" action="ppaction://media"/>
            <a:extLst>
              <a:ext uri="{FF2B5EF4-FFF2-40B4-BE49-F238E27FC236}">
                <a16:creationId xmlns:a16="http://schemas.microsoft.com/office/drawing/2014/main" id="{142AEF55-9898-7E06-C756-78523C27919D}"/>
              </a:ext>
            </a:extLst>
          </p:cNvPr>
          <p:cNvPicPr>
            <a:picLocks noRot="1" noChangeAspect="1"/>
          </p:cNvPicPr>
          <p:nvPr>
            <a:videoFile r:link="rId1"/>
          </p:nvPr>
        </p:nvPicPr>
        <p:blipFill>
          <a:blip r:embed="rId4"/>
          <a:stretch>
            <a:fillRect/>
          </a:stretch>
        </p:blipFill>
        <p:spPr>
          <a:xfrm>
            <a:off x="398761" y="969038"/>
            <a:ext cx="6517678" cy="3682176"/>
          </a:xfrm>
          <a:prstGeom prst="rect">
            <a:avLst/>
          </a:prstGeom>
        </p:spPr>
      </p:pic>
    </p:spTree>
    <p:extLst>
      <p:ext uri="{BB962C8B-B14F-4D97-AF65-F5344CB8AC3E}">
        <p14:creationId xmlns:p14="http://schemas.microsoft.com/office/powerpoint/2010/main" val="157779965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065AB-0879-A4F8-1045-621491D6FAD4}"/>
            </a:ext>
          </a:extLst>
        </p:cNvPr>
        <p:cNvGrpSpPr/>
        <p:nvPr/>
      </p:nvGrpSpPr>
      <p:grpSpPr>
        <a:xfrm>
          <a:off x="0" y="0"/>
          <a:ext cx="0" cy="0"/>
          <a:chOff x="0" y="0"/>
          <a:chExt cx="0" cy="0"/>
        </a:xfrm>
      </p:grpSpPr>
      <p:pic>
        <p:nvPicPr>
          <p:cNvPr id="8" name="그림 7">
            <a:extLst>
              <a:ext uri="{FF2B5EF4-FFF2-40B4-BE49-F238E27FC236}">
                <a16:creationId xmlns:a16="http://schemas.microsoft.com/office/drawing/2014/main" id="{809F1189-054F-DE07-5A7B-BEB93648611E}"/>
              </a:ext>
            </a:extLst>
          </p:cNvPr>
          <p:cNvPicPr>
            <a:picLocks noChangeAspect="1"/>
          </p:cNvPicPr>
          <p:nvPr/>
        </p:nvPicPr>
        <p:blipFill>
          <a:blip r:embed="rId4"/>
          <a:stretch>
            <a:fillRect/>
          </a:stretch>
        </p:blipFill>
        <p:spPr>
          <a:xfrm>
            <a:off x="6517006" y="3775854"/>
            <a:ext cx="777568" cy="225506"/>
          </a:xfrm>
          <a:prstGeom prst="rect">
            <a:avLst/>
          </a:prstGeom>
        </p:spPr>
      </p:pic>
      <p:pic>
        <p:nvPicPr>
          <p:cNvPr id="9" name="그림 8">
            <a:extLst>
              <a:ext uri="{FF2B5EF4-FFF2-40B4-BE49-F238E27FC236}">
                <a16:creationId xmlns:a16="http://schemas.microsoft.com/office/drawing/2014/main" id="{88A1E980-CE41-79B8-3571-5BEECB0A62A3}"/>
              </a:ext>
            </a:extLst>
          </p:cNvPr>
          <p:cNvPicPr>
            <a:picLocks noChangeAspect="1"/>
          </p:cNvPicPr>
          <p:nvPr/>
        </p:nvPicPr>
        <p:blipFill>
          <a:blip r:embed="rId4"/>
          <a:stretch>
            <a:fillRect/>
          </a:stretch>
        </p:blipFill>
        <p:spPr>
          <a:xfrm>
            <a:off x="6380648" y="1518542"/>
            <a:ext cx="777568" cy="225506"/>
          </a:xfrm>
          <a:prstGeom prst="rect">
            <a:avLst/>
          </a:prstGeom>
        </p:spPr>
      </p:pic>
      <p:sp>
        <p:nvSpPr>
          <p:cNvPr id="14" name="Title 1">
            <a:extLst>
              <a:ext uri="{FF2B5EF4-FFF2-40B4-BE49-F238E27FC236}">
                <a16:creationId xmlns:a16="http://schemas.microsoft.com/office/drawing/2014/main" id="{BDB98D9B-430E-AFB4-5249-E6F557BA9347}"/>
              </a:ext>
            </a:extLst>
          </p:cNvPr>
          <p:cNvSpPr>
            <a:spLocks noGrp="1"/>
          </p:cNvSpPr>
          <p:nvPr>
            <p:ph type="title"/>
          </p:nvPr>
        </p:nvSpPr>
        <p:spPr>
          <a:xfrm>
            <a:off x="304799" y="304655"/>
            <a:ext cx="8392313" cy="535531"/>
          </a:xfrm>
        </p:spPr>
        <p:txBody>
          <a:bodyPr/>
          <a:lstStyle/>
          <a:p>
            <a:r>
              <a:rPr lang="nb-NO" altLang="ko-KR" dirty="0" err="1"/>
              <a:t>Cooling</a:t>
            </a:r>
            <a:r>
              <a:rPr lang="nb-NO" altLang="ko-KR" dirty="0"/>
              <a:t> water </a:t>
            </a:r>
            <a:r>
              <a:rPr lang="nb-NO" altLang="ko-KR" dirty="0" err="1"/>
              <a:t>treatment</a:t>
            </a:r>
            <a:r>
              <a:rPr lang="nb-NO" altLang="ko-KR" dirty="0"/>
              <a:t> test</a:t>
            </a:r>
            <a:endParaRPr lang="en-US" dirty="0"/>
          </a:p>
        </p:txBody>
      </p:sp>
      <p:pic>
        <p:nvPicPr>
          <p:cNvPr id="4" name="Picture 2" descr="Troubleshooting: Excessive Loss of Water from Main Engine Fresh Water  Expansion Tank">
            <a:extLst>
              <a:ext uri="{FF2B5EF4-FFF2-40B4-BE49-F238E27FC236}">
                <a16:creationId xmlns:a16="http://schemas.microsoft.com/office/drawing/2014/main" id="{7B8109E1-9BD7-C8C9-EF63-D8B1A73D35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8216" y="0"/>
            <a:ext cx="872003" cy="1162670"/>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2">
            <a:extLst>
              <a:ext uri="{FF2B5EF4-FFF2-40B4-BE49-F238E27FC236}">
                <a16:creationId xmlns:a16="http://schemas.microsoft.com/office/drawing/2014/main" id="{8A074313-9176-49C3-0739-8F6E84EA5E7A}"/>
              </a:ext>
            </a:extLst>
          </p:cNvPr>
          <p:cNvSpPr>
            <a:spLocks noGrp="1"/>
          </p:cNvSpPr>
          <p:nvPr>
            <p:ph type="body" sz="quarter" idx="10"/>
          </p:nvPr>
        </p:nvSpPr>
        <p:spPr>
          <a:xfrm>
            <a:off x="7103215" y="1251284"/>
            <a:ext cx="1930784" cy="3224466"/>
          </a:xfrm>
        </p:spPr>
        <p:txBody>
          <a:bodyPr>
            <a:normAutofit fontScale="92500"/>
          </a:bodyPr>
          <a:lstStyle/>
          <a:p>
            <a:pPr marL="0" indent="0">
              <a:spcAft>
                <a:spcPts val="1000"/>
              </a:spcAft>
              <a:buNone/>
            </a:pPr>
            <a:r>
              <a:rPr lang="en-US" altLang="ko-KR" sz="1600" dirty="0"/>
              <a:t>A cooling water treatment test is conducted to determine the current condition of the G/E's cooling water. </a:t>
            </a:r>
          </a:p>
          <a:p>
            <a:pPr marL="0" indent="0">
              <a:spcAft>
                <a:spcPts val="1000"/>
              </a:spcAft>
              <a:buNone/>
            </a:pPr>
            <a:r>
              <a:rPr lang="en-US" altLang="ko-KR" sz="1600" dirty="0"/>
              <a:t>Based on the test results, chemicals are added to the cooling fresh water expansion tank to prevent corrosion and suppress scale caused by cooling water.</a:t>
            </a:r>
            <a:endParaRPr lang="en-US" sz="1600" dirty="0">
              <a:solidFill>
                <a:srgbClr val="000000"/>
              </a:solidFill>
            </a:endParaRPr>
          </a:p>
        </p:txBody>
      </p:sp>
      <p:pic>
        <p:nvPicPr>
          <p:cNvPr id="7" name="그림 6">
            <a:extLst>
              <a:ext uri="{FF2B5EF4-FFF2-40B4-BE49-F238E27FC236}">
                <a16:creationId xmlns:a16="http://schemas.microsoft.com/office/drawing/2014/main" id="{955002D3-DE4E-31A4-41B7-6F6C30814AC4}"/>
              </a:ext>
            </a:extLst>
          </p:cNvPr>
          <p:cNvPicPr>
            <a:picLocks noChangeAspect="1"/>
          </p:cNvPicPr>
          <p:nvPr/>
        </p:nvPicPr>
        <p:blipFill>
          <a:blip r:embed="rId6"/>
          <a:stretch>
            <a:fillRect/>
          </a:stretch>
        </p:blipFill>
        <p:spPr>
          <a:xfrm>
            <a:off x="8387564" y="0"/>
            <a:ext cx="756436" cy="1162670"/>
          </a:xfrm>
          <a:prstGeom prst="rect">
            <a:avLst/>
          </a:prstGeom>
        </p:spPr>
      </p:pic>
      <p:cxnSp>
        <p:nvCxnSpPr>
          <p:cNvPr id="11" name="직선 화살표 연결선 10">
            <a:extLst>
              <a:ext uri="{FF2B5EF4-FFF2-40B4-BE49-F238E27FC236}">
                <a16:creationId xmlns:a16="http://schemas.microsoft.com/office/drawing/2014/main" id="{D3CD329C-FFCB-048C-ADA8-6DB3B26A10B3}"/>
              </a:ext>
            </a:extLst>
          </p:cNvPr>
          <p:cNvCxnSpPr>
            <a:cxnSpLocks/>
          </p:cNvCxnSpPr>
          <p:nvPr/>
        </p:nvCxnSpPr>
        <p:spPr>
          <a:xfrm flipH="1">
            <a:off x="8078344" y="581335"/>
            <a:ext cx="28188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3" name="Text Placeholder 2">
            <a:extLst>
              <a:ext uri="{FF2B5EF4-FFF2-40B4-BE49-F238E27FC236}">
                <a16:creationId xmlns:a16="http://schemas.microsoft.com/office/drawing/2014/main" id="{D60794A3-0DD9-5B5B-0360-1583BB87DB21}"/>
              </a:ext>
            </a:extLst>
          </p:cNvPr>
          <p:cNvSpPr txBox="1">
            <a:spLocks/>
          </p:cNvSpPr>
          <p:nvPr/>
        </p:nvSpPr>
        <p:spPr>
          <a:xfrm>
            <a:off x="316259" y="4770928"/>
            <a:ext cx="244756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1) Nitrite test, 2) Chloride test, 3) pH test</a:t>
            </a:r>
          </a:p>
        </p:txBody>
      </p:sp>
      <p:pic>
        <p:nvPicPr>
          <p:cNvPr id="15" name="온라인 미디어 14" title="Spectrapak 309 Water test kit">
            <a:hlinkClick r:id="" action="ppaction://media"/>
            <a:extLst>
              <a:ext uri="{FF2B5EF4-FFF2-40B4-BE49-F238E27FC236}">
                <a16:creationId xmlns:a16="http://schemas.microsoft.com/office/drawing/2014/main" id="{53406681-222E-B178-81B3-51B583960396}"/>
              </a:ext>
            </a:extLst>
          </p:cNvPr>
          <p:cNvPicPr>
            <a:picLocks noRot="1" noChangeAspect="1"/>
          </p:cNvPicPr>
          <p:nvPr>
            <a:videoFile r:link="rId1"/>
          </p:nvPr>
        </p:nvPicPr>
        <p:blipFill>
          <a:blip r:embed="rId7"/>
          <a:stretch>
            <a:fillRect/>
          </a:stretch>
        </p:blipFill>
        <p:spPr>
          <a:xfrm>
            <a:off x="435472" y="962526"/>
            <a:ext cx="6501593" cy="3673088"/>
          </a:xfrm>
          <a:prstGeom prst="rect">
            <a:avLst/>
          </a:prstGeom>
        </p:spPr>
      </p:pic>
    </p:spTree>
    <p:extLst>
      <p:ext uri="{BB962C8B-B14F-4D97-AF65-F5344CB8AC3E}">
        <p14:creationId xmlns:p14="http://schemas.microsoft.com/office/powerpoint/2010/main" val="19045056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5"/>
                </p:tgtEl>
              </p:cMediaNode>
            </p:video>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5"/>
                                        </p:tgtEl>
                                      </p:cBhvr>
                                    </p:cmd>
                                  </p:childTnLst>
                                </p:cTn>
                              </p:par>
                            </p:childTnLst>
                          </p:cTn>
                        </p:par>
                      </p:childTnLst>
                    </p:cTn>
                  </p:par>
                </p:childTnLst>
              </p:cTn>
              <p:nextCondLst>
                <p:cond evt="onClick" delay="0">
                  <p:tgtEl>
                    <p:spTgt spid="15"/>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74E1A-C872-9AAE-60C3-34415D45B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FE596-06C2-3685-0125-D4BDE77E321D}"/>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FFD38A95-27C1-C00D-F264-F213EB3424A7}"/>
              </a:ext>
            </a:extLst>
          </p:cNvPr>
          <p:cNvSpPr>
            <a:spLocks noGrp="1"/>
          </p:cNvSpPr>
          <p:nvPr>
            <p:ph type="body" sz="quarter" idx="10"/>
          </p:nvPr>
        </p:nvSpPr>
        <p:spPr/>
        <p:txBody>
          <a:bodyPr>
            <a:normAutofit/>
          </a:bodyPr>
          <a:lstStyle/>
          <a:p>
            <a:pPr marL="0" indent="0">
              <a:spcAft>
                <a:spcPts val="1000"/>
              </a:spcAft>
              <a:buNone/>
            </a:pPr>
            <a:r>
              <a:rPr lang="en-US" altLang="ko-KR" sz="1600" dirty="0"/>
              <a:t>1) https://www.thermomegatech.com/products/</a:t>
            </a:r>
          </a:p>
          <a:p>
            <a:pPr marL="0" indent="0">
              <a:spcAft>
                <a:spcPts val="1000"/>
              </a:spcAft>
              <a:buNone/>
            </a:pPr>
            <a:r>
              <a:rPr lang="en-US" sz="1600" dirty="0">
                <a:solidFill>
                  <a:srgbClr val="000000"/>
                </a:solidFill>
              </a:rPr>
              <a:t>2) https://www.youtube.com/watch?v=nJEF5uO9o2g</a:t>
            </a:r>
          </a:p>
          <a:p>
            <a:pPr marL="0" indent="0">
              <a:spcAft>
                <a:spcPts val="1000"/>
              </a:spcAft>
              <a:buNone/>
            </a:pPr>
            <a:r>
              <a:rPr lang="en-US" sz="1600" dirty="0">
                <a:solidFill>
                  <a:srgbClr val="000000"/>
                </a:solidFill>
              </a:rPr>
              <a:t>3) https://www.youtube.com/watch?v=r-8vv3dQ1oc</a:t>
            </a:r>
          </a:p>
          <a:p>
            <a:pPr marL="0" indent="0">
              <a:spcAft>
                <a:spcPts val="1000"/>
              </a:spcAft>
              <a:buNone/>
            </a:pPr>
            <a:r>
              <a:rPr lang="en-US" sz="1600" dirty="0">
                <a:solidFill>
                  <a:srgbClr val="000000"/>
                </a:solidFill>
              </a:rPr>
              <a:t>4) https://www.youtube.com/watch?v=uEInVVcc6Sc</a:t>
            </a:r>
          </a:p>
          <a:p>
            <a:pPr marL="0" indent="0">
              <a:spcAft>
                <a:spcPts val="1000"/>
              </a:spcAft>
              <a:buNone/>
            </a:pPr>
            <a:r>
              <a:rPr lang="en-US" sz="1600" dirty="0">
                <a:solidFill>
                  <a:srgbClr val="000000"/>
                </a:solidFill>
              </a:rPr>
              <a:t>5) https://www.youtube.com/watch?v=_2xPxMPZV6I</a:t>
            </a:r>
          </a:p>
          <a:p>
            <a:pPr marL="0" indent="0">
              <a:spcAft>
                <a:spcPts val="1000"/>
              </a:spcAft>
              <a:buNone/>
            </a:pPr>
            <a:r>
              <a:rPr lang="en-US" sz="1600" dirty="0">
                <a:solidFill>
                  <a:srgbClr val="000000"/>
                </a:solidFill>
              </a:rPr>
              <a:t>6) https://www.youtube.com/watch?v=s5nJG0om8KY</a:t>
            </a:r>
          </a:p>
          <a:p>
            <a:pPr marL="0" indent="0">
              <a:spcAft>
                <a:spcPts val="1000"/>
              </a:spcAft>
              <a:buNone/>
            </a:pPr>
            <a:r>
              <a:rPr lang="en-US" sz="1600" dirty="0">
                <a:solidFill>
                  <a:srgbClr val="000000"/>
                </a:solidFill>
              </a:rPr>
              <a:t>7) https://www.sciencedirect.com/science/article/pii/S0142941816311643?via%3Dihub</a:t>
            </a:r>
          </a:p>
          <a:p>
            <a:pPr marL="0" indent="0">
              <a:spcAft>
                <a:spcPts val="1000"/>
              </a:spcAft>
              <a:buNone/>
            </a:pPr>
            <a:r>
              <a:rPr lang="en-US" sz="1600" dirty="0">
                <a:solidFill>
                  <a:srgbClr val="000000"/>
                </a:solidFill>
              </a:rPr>
              <a:t>8) https://www.alfalaval.my/products/heat-transfer/plate-heat-exchangers/gasketed-plate-and-frame-heat-exchangers/heat-exchanger/how-plate-heat-exchanger-work/</a:t>
            </a:r>
          </a:p>
        </p:txBody>
      </p:sp>
    </p:spTree>
    <p:extLst>
      <p:ext uri="{BB962C8B-B14F-4D97-AF65-F5344CB8AC3E}">
        <p14:creationId xmlns:p14="http://schemas.microsoft.com/office/powerpoint/2010/main" val="3030023109"/>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2EB2-169F-9E56-1359-60C5CD889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49B2E-E64F-F761-11A1-3FB3023DC4C9}"/>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EF511001-51A1-75C7-C13F-482BEFE69C1A}"/>
              </a:ext>
            </a:extLst>
          </p:cNvPr>
          <p:cNvSpPr>
            <a:spLocks noGrp="1"/>
          </p:cNvSpPr>
          <p:nvPr>
            <p:ph type="body" sz="quarter" idx="10"/>
          </p:nvPr>
        </p:nvSpPr>
        <p:spPr/>
        <p:txBody>
          <a:bodyPr>
            <a:normAutofit lnSpcReduction="10000"/>
          </a:bodyPr>
          <a:lstStyle/>
          <a:p>
            <a:pPr marL="0" indent="0">
              <a:spcAft>
                <a:spcPts val="1000"/>
              </a:spcAft>
              <a:buNone/>
            </a:pPr>
            <a:r>
              <a:rPr lang="en-US" altLang="ko-KR" sz="1600" dirty="0"/>
              <a:t>9) https://nlmotoring.com/wheel-academy/how-to-tighten-lug-nuts/?srsltid=AfmBOooBJojGDbeolgqsz7mvjOOXO_OW6vSWCtFHcM_JrrFQFYmnjEUC </a:t>
            </a:r>
          </a:p>
          <a:p>
            <a:pPr marL="0" indent="0">
              <a:spcAft>
                <a:spcPts val="1000"/>
              </a:spcAft>
              <a:buNone/>
            </a:pPr>
            <a:r>
              <a:rPr lang="en-US" sz="1600" dirty="0">
                <a:solidFill>
                  <a:srgbClr val="000000"/>
                </a:solidFill>
              </a:rPr>
              <a:t>10) https://www.youtube.com/watch?v=Atz2XwcjZ48</a:t>
            </a:r>
          </a:p>
          <a:p>
            <a:pPr marL="0" indent="0">
              <a:spcAft>
                <a:spcPts val="1000"/>
              </a:spcAft>
              <a:buNone/>
            </a:pPr>
            <a:r>
              <a:rPr lang="en-US" sz="1600" dirty="0">
                <a:solidFill>
                  <a:srgbClr val="000000"/>
                </a:solidFill>
              </a:rPr>
              <a:t>11) https://www.youtube.com/shorts/2qQGLiCL4vo</a:t>
            </a:r>
          </a:p>
          <a:p>
            <a:pPr marL="0" indent="0">
              <a:spcAft>
                <a:spcPts val="1000"/>
              </a:spcAft>
              <a:buNone/>
            </a:pPr>
            <a:r>
              <a:rPr lang="en-US" sz="1600" dirty="0">
                <a:solidFill>
                  <a:srgbClr val="000000"/>
                </a:solidFill>
              </a:rPr>
              <a:t>12) http://generalcargoship.com/charged-air-cooler.html</a:t>
            </a:r>
          </a:p>
          <a:p>
            <a:pPr marL="0" indent="0">
              <a:spcAft>
                <a:spcPts val="1000"/>
              </a:spcAft>
              <a:buNone/>
            </a:pPr>
            <a:r>
              <a:rPr lang="en-US" sz="1600" dirty="0">
                <a:solidFill>
                  <a:srgbClr val="000000"/>
                </a:solidFill>
              </a:rPr>
              <a:t>13) </a:t>
            </a:r>
            <a:r>
              <a:rPr lang="en-US" sz="1600" dirty="0">
                <a:solidFill>
                  <a:srgbClr val="000000"/>
                </a:solidFill>
                <a:hlinkClick r:id="rId2"/>
              </a:rPr>
              <a:t>https://muckymariners.com/app/meo-class-4-subjects/function-4b-meol/auxiliary-machines/11-heat-exchanger/heat-exchanger-2-5-types/</a:t>
            </a:r>
            <a:endParaRPr lang="en-US" sz="1600" dirty="0">
              <a:solidFill>
                <a:srgbClr val="000000"/>
              </a:solidFill>
            </a:endParaRPr>
          </a:p>
          <a:p>
            <a:pPr marL="0" indent="0">
              <a:spcAft>
                <a:spcPts val="1000"/>
              </a:spcAft>
              <a:buNone/>
            </a:pPr>
            <a:r>
              <a:rPr lang="en-US" sz="1600" dirty="0">
                <a:solidFill>
                  <a:srgbClr val="000000"/>
                </a:solidFill>
              </a:rPr>
              <a:t>14) https://www.vrcoolertech.com/news/5-types-of-shell-and-tube-heat-exchangers-and-78264382.html</a:t>
            </a:r>
          </a:p>
          <a:p>
            <a:pPr marL="0" indent="0">
              <a:spcAft>
                <a:spcPts val="1000"/>
              </a:spcAft>
              <a:buNone/>
            </a:pPr>
            <a:r>
              <a:rPr lang="en-US" sz="1600" dirty="0">
                <a:solidFill>
                  <a:srgbClr val="000000"/>
                </a:solidFill>
              </a:rPr>
              <a:t>15) https://www.justdial.com/jdmart/Bangalore/Stainless-Steel-Heat-Exchanger-Suitable-for-Industrial-Applications-Flow-Rate-1200-Nm3hr-Maximum-Working-Pressure-10-bar/pid-2031869768/080PXX80-XX80-110315174638-U3S5</a:t>
            </a:r>
          </a:p>
        </p:txBody>
      </p:sp>
    </p:spTree>
    <p:extLst>
      <p:ext uri="{BB962C8B-B14F-4D97-AF65-F5344CB8AC3E}">
        <p14:creationId xmlns:p14="http://schemas.microsoft.com/office/powerpoint/2010/main" val="4282015703"/>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99D76-854A-28AE-6E67-FBCAE9C04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3AF44-0116-809A-2C4A-2FCBF8003FB7}"/>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32A75EE2-8BB8-B75E-962D-27E10A00262A}"/>
              </a:ext>
            </a:extLst>
          </p:cNvPr>
          <p:cNvSpPr>
            <a:spLocks noGrp="1"/>
          </p:cNvSpPr>
          <p:nvPr>
            <p:ph type="body" sz="quarter" idx="10"/>
          </p:nvPr>
        </p:nvSpPr>
        <p:spPr/>
        <p:txBody>
          <a:bodyPr>
            <a:normAutofit/>
          </a:bodyPr>
          <a:lstStyle/>
          <a:p>
            <a:pPr marL="0" indent="0">
              <a:spcAft>
                <a:spcPts val="1000"/>
              </a:spcAft>
              <a:buNone/>
            </a:pPr>
            <a:r>
              <a:rPr lang="en-US" altLang="ko-KR" sz="1600" dirty="0"/>
              <a:t>16) </a:t>
            </a:r>
            <a:r>
              <a:rPr lang="en-US" altLang="ko-KR" sz="1600" dirty="0">
                <a:hlinkClick r:id="rId2"/>
              </a:rPr>
              <a:t>https://www.youtube.com/watch?v=CNry-CKNkeM</a:t>
            </a:r>
            <a:endParaRPr lang="en-US" altLang="ko-KR" sz="1600" dirty="0"/>
          </a:p>
          <a:p>
            <a:pPr marL="0" indent="0">
              <a:spcAft>
                <a:spcPts val="1000"/>
              </a:spcAft>
              <a:buNone/>
            </a:pPr>
            <a:r>
              <a:rPr lang="en-US" sz="1600" dirty="0">
                <a:solidFill>
                  <a:srgbClr val="000000"/>
                </a:solidFill>
              </a:rPr>
              <a:t>17) </a:t>
            </a:r>
            <a:r>
              <a:rPr lang="en-US" sz="1600" dirty="0">
                <a:solidFill>
                  <a:srgbClr val="000000"/>
                </a:solidFill>
                <a:hlinkClick r:id="rId3"/>
              </a:rPr>
              <a:t>https://www.wilhelmsen.com/product-catalogue/products/marine-chemicals/water-treatment-chemicals/cooling-water-treatment/</a:t>
            </a:r>
            <a:endParaRPr lang="en-US" sz="1600" dirty="0">
              <a:solidFill>
                <a:srgbClr val="000000"/>
              </a:solidFill>
            </a:endParaRPr>
          </a:p>
          <a:p>
            <a:pPr marL="0" indent="0">
              <a:spcAft>
                <a:spcPts val="1000"/>
              </a:spcAft>
              <a:buNone/>
            </a:pPr>
            <a:r>
              <a:rPr lang="en-US" sz="1600" dirty="0">
                <a:solidFill>
                  <a:srgbClr val="000000"/>
                </a:solidFill>
              </a:rPr>
              <a:t>18) https://www.freyssinet.com/solution/build/expansion-joints/expansion-joints-road/</a:t>
            </a:r>
          </a:p>
        </p:txBody>
      </p:sp>
    </p:spTree>
    <p:extLst>
      <p:ext uri="{BB962C8B-B14F-4D97-AF65-F5344CB8AC3E}">
        <p14:creationId xmlns:p14="http://schemas.microsoft.com/office/powerpoint/2010/main" val="432101039"/>
      </p:ext>
    </p:extLst>
  </p:cSld>
  <p:clrMapOvr>
    <a:masterClrMapping/>
  </p:clrMapOvr>
  <p:transition>
    <p:wipe dir="r"/>
  </p:transition>
</p:sld>
</file>

<file path=ppt/theme/theme1.xml><?xml version="1.0" encoding="utf-8"?>
<a:theme xmlns:a="http://schemas.openxmlformats.org/drawingml/2006/main" name="1_Office Theme">
  <a:themeElements>
    <a:clrScheme name="Custom 48">
      <a:dk1>
        <a:sysClr val="windowText" lastClr="000000"/>
      </a:dk1>
      <a:lt1>
        <a:sysClr val="window" lastClr="FFFFFF"/>
      </a:lt1>
      <a:dk2>
        <a:srgbClr val="696253"/>
      </a:dk2>
      <a:lt2>
        <a:srgbClr val="B9AE98"/>
      </a:lt2>
      <a:accent1>
        <a:srgbClr val="8C1515"/>
      </a:accent1>
      <a:accent2>
        <a:srgbClr val="718899"/>
      </a:accent2>
      <a:accent3>
        <a:srgbClr val="ED9A4F"/>
      </a:accent3>
      <a:accent4>
        <a:srgbClr val="A4B924"/>
      </a:accent4>
      <a:accent5>
        <a:srgbClr val="D9C393"/>
      </a:accent5>
      <a:accent6>
        <a:srgbClr val="104B35"/>
      </a:accent6>
      <a:hlink>
        <a:srgbClr val="56324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cap="flat" cmpd="sng" algn="ctr">
          <a:solidFill>
            <a:schemeClr val="bg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nSpc>
            <a:spcPct val="90000"/>
          </a:lnSpc>
          <a:defRPr dirty="0" smtClean="0">
            <a:solidFill>
              <a:srgbClr val="696253"/>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1385</Words>
  <Application>Microsoft Office PowerPoint</Application>
  <PresentationFormat>화면 슬라이드 쇼(16:9)</PresentationFormat>
  <Paragraphs>135</Paragraphs>
  <Slides>35</Slides>
  <Notes>2</Notes>
  <HiddenSlides>0</HiddenSlides>
  <MMClips>13</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35</vt:i4>
      </vt:variant>
    </vt:vector>
  </HeadingPairs>
  <TitlesOfParts>
    <vt:vector size="38" baseType="lpstr">
      <vt:lpstr>Calibri</vt:lpstr>
      <vt:lpstr>Arial</vt:lpstr>
      <vt:lpstr>1_Office Theme</vt:lpstr>
      <vt:lpstr>PowerPoint 프레젠테이션</vt:lpstr>
      <vt:lpstr>Lesson content for each week</vt:lpstr>
      <vt:lpstr>PowerPoint 프레젠테이션</vt:lpstr>
      <vt:lpstr>PowerPoint 프레젠테이션</vt:lpstr>
      <vt:lpstr>Cooling fresh water expansion tank</vt:lpstr>
      <vt:lpstr>Cooling fresh water expansion tank</vt:lpstr>
      <vt:lpstr>Cooling fresh water expansion tank</vt:lpstr>
      <vt:lpstr>Cooling water system (HiMSEN)</vt:lpstr>
      <vt:lpstr>Cooling water system (HiMSEN)</vt:lpstr>
      <vt:lpstr>PowerPoint 프레젠테이션</vt:lpstr>
      <vt:lpstr>Cooling water system (HiMSEN)</vt:lpstr>
      <vt:lpstr>Cooling water system (HiMSEN)</vt:lpstr>
      <vt:lpstr>PowerPoint 프레젠테이션</vt:lpstr>
      <vt:lpstr>Cooling water system (HiMSEN)</vt:lpstr>
      <vt:lpstr>Cooling water system (HiMSEN)</vt:lpstr>
      <vt:lpstr>Cooling water system (HiMSEN)</vt:lpstr>
      <vt:lpstr>L.O. cooler</vt:lpstr>
      <vt:lpstr>Plate type heat exchanger (=Cooler)</vt:lpstr>
      <vt:lpstr>Plate type heat exchanger (=Cooler)</vt:lpstr>
      <vt:lpstr>Plate type heat exchanger (=Cooler)</vt:lpstr>
      <vt:lpstr>Plate type heat exchanger (=Cooler)</vt:lpstr>
      <vt:lpstr>Plate type heat exchanger (=Cooler)</vt:lpstr>
      <vt:lpstr>Plate type heat exchanger (=Cooler)</vt:lpstr>
      <vt:lpstr>Plate type heat exchanger (=Cooler)</vt:lpstr>
      <vt:lpstr>Plate type heat exchanger (=Cooler)</vt:lpstr>
      <vt:lpstr>Plate type heat exchanger (=Cooler)</vt:lpstr>
      <vt:lpstr>Plate type heat exchanger (=Cooler)</vt:lpstr>
      <vt:lpstr>Shell type heat exchanger (=Cooler)</vt:lpstr>
      <vt:lpstr>Air Cooler (HiMSEN)</vt:lpstr>
      <vt:lpstr>Air Cooler (HiMSEN)</vt:lpstr>
      <vt:lpstr>Air Cooler (HiMSEN)</vt:lpstr>
      <vt:lpstr>Cooling water treatment test</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8</cp:revision>
  <dcterms:created xsi:type="dcterms:W3CDTF">2015-04-29T17:53:16Z</dcterms:created>
  <dcterms:modified xsi:type="dcterms:W3CDTF">2025-10-25T12:32:20Z</dcterms:modified>
</cp:coreProperties>
</file>